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" panose="020B0604020202020204" charset="0"/>
      <p:regular r:id="rId19"/>
    </p:embeddedFont>
    <p:embeddedFont>
      <p:font typeface="Nirand Bold" panose="020B0604020202020204" charset="-34"/>
      <p:regular r:id="rId20"/>
    </p:embeddedFont>
    <p:embeddedFont>
      <p:font typeface="Nunito" pitchFamily="2" charset="0"/>
      <p:regular r:id="rId21"/>
    </p:embeddedFont>
    <p:embeddedFont>
      <p:font typeface="Nunito Bold" charset="0"/>
      <p:regular r:id="rId22"/>
    </p:embeddedFont>
    <p:embeddedFont>
      <p:font typeface="Open Sans" panose="020B0606030504020204" pitchFamily="34" charset="0"/>
      <p:regular r:id="rId23"/>
    </p:embeddedFont>
    <p:embeddedFont>
      <p:font typeface="Open Sans Bold" panose="020B0604020202020204" charset="0"/>
      <p:regular r:id="rId24"/>
    </p:embeddedFont>
    <p:embeddedFont>
      <p:font typeface="Open Sans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03835" y="-2361681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59304" y="488689"/>
            <a:ext cx="2513081" cy="251308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9" name="AutoShape 9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1629410" y="7236435"/>
            <a:ext cx="1586288" cy="15862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29410" y="2202766"/>
            <a:ext cx="11124645" cy="249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Group Project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6375" y="6444876"/>
            <a:ext cx="340364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By Group 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53653" y="4922145"/>
            <a:ext cx="8242251" cy="131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Development: 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KNN &amp; Multiple Linear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92504" y="1970436"/>
            <a:ext cx="11663968" cy="1166396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9" name="Group 9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9377" y="1527906"/>
            <a:ext cx="2631952" cy="3146672"/>
            <a:chOff x="0" y="0"/>
            <a:chExt cx="812800" cy="9717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971756"/>
            </a:xfrm>
            <a:custGeom>
              <a:avLst/>
              <a:gdLst/>
              <a:ahLst/>
              <a:cxnLst/>
              <a:rect l="l" t="t" r="r" b="b"/>
              <a:pathLst>
                <a:path w="812800" h="971756">
                  <a:moveTo>
                    <a:pt x="67655" y="0"/>
                  </a:moveTo>
                  <a:lnTo>
                    <a:pt x="745145" y="0"/>
                  </a:lnTo>
                  <a:cubicBezTo>
                    <a:pt x="782510" y="0"/>
                    <a:pt x="812800" y="30290"/>
                    <a:pt x="812800" y="67655"/>
                  </a:cubicBezTo>
                  <a:lnTo>
                    <a:pt x="812800" y="904101"/>
                  </a:lnTo>
                  <a:cubicBezTo>
                    <a:pt x="812800" y="941466"/>
                    <a:pt x="782510" y="971756"/>
                    <a:pt x="745145" y="971756"/>
                  </a:cubicBezTo>
                  <a:lnTo>
                    <a:pt x="67655" y="971756"/>
                  </a:lnTo>
                  <a:cubicBezTo>
                    <a:pt x="30290" y="971756"/>
                    <a:pt x="0" y="941466"/>
                    <a:pt x="0" y="904101"/>
                  </a:cubicBezTo>
                  <a:lnTo>
                    <a:pt x="0" y="67655"/>
                  </a:lnTo>
                  <a:cubicBezTo>
                    <a:pt x="0" y="30290"/>
                    <a:pt x="30290" y="0"/>
                    <a:pt x="67655" y="0"/>
                  </a:cubicBezTo>
                  <a:close/>
                </a:path>
              </a:pathLst>
            </a:custGeom>
            <a:blipFill>
              <a:blip r:embed="rId2"/>
              <a:stretch>
                <a:fillRect l="-9778" r="-9778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64563" y="1574645"/>
            <a:ext cx="2629202" cy="3143385"/>
            <a:chOff x="0" y="0"/>
            <a:chExt cx="812800" cy="9717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971756"/>
            </a:xfrm>
            <a:custGeom>
              <a:avLst/>
              <a:gdLst/>
              <a:ahLst/>
              <a:cxnLst/>
              <a:rect l="l" t="t" r="r" b="b"/>
              <a:pathLst>
                <a:path w="812800" h="971756">
                  <a:moveTo>
                    <a:pt x="67726" y="0"/>
                  </a:moveTo>
                  <a:lnTo>
                    <a:pt x="745074" y="0"/>
                  </a:lnTo>
                  <a:cubicBezTo>
                    <a:pt x="782478" y="0"/>
                    <a:pt x="812800" y="30322"/>
                    <a:pt x="812800" y="67726"/>
                  </a:cubicBezTo>
                  <a:lnTo>
                    <a:pt x="812800" y="904031"/>
                  </a:lnTo>
                  <a:cubicBezTo>
                    <a:pt x="812800" y="941434"/>
                    <a:pt x="782478" y="971756"/>
                    <a:pt x="745074" y="971756"/>
                  </a:cubicBezTo>
                  <a:lnTo>
                    <a:pt x="67726" y="971756"/>
                  </a:lnTo>
                  <a:cubicBezTo>
                    <a:pt x="49764" y="971756"/>
                    <a:pt x="32537" y="964621"/>
                    <a:pt x="19836" y="951920"/>
                  </a:cubicBezTo>
                  <a:cubicBezTo>
                    <a:pt x="7135" y="939219"/>
                    <a:pt x="0" y="921993"/>
                    <a:pt x="0" y="904031"/>
                  </a:cubicBezTo>
                  <a:lnTo>
                    <a:pt x="0" y="67726"/>
                  </a:lnTo>
                  <a:cubicBezTo>
                    <a:pt x="0" y="30322"/>
                    <a:pt x="30322" y="0"/>
                    <a:pt x="67726" y="0"/>
                  </a:cubicBezTo>
                  <a:close/>
                </a:path>
              </a:pathLst>
            </a:custGeom>
            <a:blipFill>
              <a:blip r:embed="rId3"/>
              <a:stretch>
                <a:fillRect l="-15483" r="-63963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16999" y="1558262"/>
            <a:ext cx="2629202" cy="3143385"/>
            <a:chOff x="0" y="0"/>
            <a:chExt cx="812800" cy="9717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971756"/>
            </a:xfrm>
            <a:custGeom>
              <a:avLst/>
              <a:gdLst/>
              <a:ahLst/>
              <a:cxnLst/>
              <a:rect l="l" t="t" r="r" b="b"/>
              <a:pathLst>
                <a:path w="812800" h="971756">
                  <a:moveTo>
                    <a:pt x="67726" y="0"/>
                  </a:moveTo>
                  <a:lnTo>
                    <a:pt x="745074" y="0"/>
                  </a:lnTo>
                  <a:cubicBezTo>
                    <a:pt x="782478" y="0"/>
                    <a:pt x="812800" y="30322"/>
                    <a:pt x="812800" y="67726"/>
                  </a:cubicBezTo>
                  <a:lnTo>
                    <a:pt x="812800" y="904031"/>
                  </a:lnTo>
                  <a:cubicBezTo>
                    <a:pt x="812800" y="941434"/>
                    <a:pt x="782478" y="971756"/>
                    <a:pt x="745074" y="971756"/>
                  </a:cubicBezTo>
                  <a:lnTo>
                    <a:pt x="67726" y="971756"/>
                  </a:lnTo>
                  <a:cubicBezTo>
                    <a:pt x="49764" y="971756"/>
                    <a:pt x="32537" y="964621"/>
                    <a:pt x="19836" y="951920"/>
                  </a:cubicBezTo>
                  <a:cubicBezTo>
                    <a:pt x="7135" y="939219"/>
                    <a:pt x="0" y="921993"/>
                    <a:pt x="0" y="904031"/>
                  </a:cubicBezTo>
                  <a:lnTo>
                    <a:pt x="0" y="67726"/>
                  </a:lnTo>
                  <a:cubicBezTo>
                    <a:pt x="0" y="30322"/>
                    <a:pt x="30322" y="0"/>
                    <a:pt x="67726" y="0"/>
                  </a:cubicBezTo>
                  <a:close/>
                </a:path>
              </a:pathLst>
            </a:custGeom>
            <a:blipFill>
              <a:blip r:embed="rId4"/>
              <a:stretch>
                <a:fillRect l="-6565" r="-6565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41099" y="1389936"/>
            <a:ext cx="2769993" cy="3311710"/>
            <a:chOff x="0" y="0"/>
            <a:chExt cx="812800" cy="9717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971756"/>
            </a:xfrm>
            <a:custGeom>
              <a:avLst/>
              <a:gdLst/>
              <a:ahLst/>
              <a:cxnLst/>
              <a:rect l="l" t="t" r="r" b="b"/>
              <a:pathLst>
                <a:path w="812800" h="971756">
                  <a:moveTo>
                    <a:pt x="64283" y="0"/>
                  </a:moveTo>
                  <a:lnTo>
                    <a:pt x="748517" y="0"/>
                  </a:lnTo>
                  <a:cubicBezTo>
                    <a:pt x="765566" y="0"/>
                    <a:pt x="781916" y="6773"/>
                    <a:pt x="793972" y="18828"/>
                  </a:cubicBezTo>
                  <a:cubicBezTo>
                    <a:pt x="806027" y="30884"/>
                    <a:pt x="812800" y="47234"/>
                    <a:pt x="812800" y="64283"/>
                  </a:cubicBezTo>
                  <a:lnTo>
                    <a:pt x="812800" y="907473"/>
                  </a:lnTo>
                  <a:cubicBezTo>
                    <a:pt x="812800" y="924522"/>
                    <a:pt x="806027" y="940873"/>
                    <a:pt x="793972" y="952928"/>
                  </a:cubicBezTo>
                  <a:cubicBezTo>
                    <a:pt x="781916" y="964984"/>
                    <a:pt x="765566" y="971756"/>
                    <a:pt x="748517" y="971756"/>
                  </a:cubicBezTo>
                  <a:lnTo>
                    <a:pt x="64283" y="971756"/>
                  </a:lnTo>
                  <a:cubicBezTo>
                    <a:pt x="47234" y="971756"/>
                    <a:pt x="30884" y="964984"/>
                    <a:pt x="18828" y="952928"/>
                  </a:cubicBezTo>
                  <a:cubicBezTo>
                    <a:pt x="6773" y="940873"/>
                    <a:pt x="0" y="924522"/>
                    <a:pt x="0" y="907473"/>
                  </a:cubicBezTo>
                  <a:lnTo>
                    <a:pt x="0" y="64283"/>
                  </a:lnTo>
                  <a:cubicBezTo>
                    <a:pt x="0" y="47234"/>
                    <a:pt x="6773" y="30884"/>
                    <a:pt x="18828" y="18828"/>
                  </a:cubicBezTo>
                  <a:cubicBezTo>
                    <a:pt x="30884" y="6773"/>
                    <a:pt x="47234" y="0"/>
                    <a:pt x="64283" y="0"/>
                  </a:cubicBezTo>
                  <a:close/>
                </a:path>
              </a:pathLst>
            </a:custGeom>
            <a:blipFill>
              <a:blip r:embed="rId5"/>
              <a:stretch>
                <a:fillRect t="-24348" b="-24348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34306" y="1362868"/>
            <a:ext cx="2769993" cy="3311710"/>
            <a:chOff x="0" y="0"/>
            <a:chExt cx="812800" cy="9717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971756"/>
            </a:xfrm>
            <a:custGeom>
              <a:avLst/>
              <a:gdLst/>
              <a:ahLst/>
              <a:cxnLst/>
              <a:rect l="l" t="t" r="r" b="b"/>
              <a:pathLst>
                <a:path w="812800" h="971756">
                  <a:moveTo>
                    <a:pt x="64283" y="0"/>
                  </a:moveTo>
                  <a:lnTo>
                    <a:pt x="748517" y="0"/>
                  </a:lnTo>
                  <a:cubicBezTo>
                    <a:pt x="765566" y="0"/>
                    <a:pt x="781916" y="6773"/>
                    <a:pt x="793972" y="18828"/>
                  </a:cubicBezTo>
                  <a:cubicBezTo>
                    <a:pt x="806027" y="30884"/>
                    <a:pt x="812800" y="47234"/>
                    <a:pt x="812800" y="64283"/>
                  </a:cubicBezTo>
                  <a:lnTo>
                    <a:pt x="812800" y="907473"/>
                  </a:lnTo>
                  <a:cubicBezTo>
                    <a:pt x="812800" y="924522"/>
                    <a:pt x="806027" y="940873"/>
                    <a:pt x="793972" y="952928"/>
                  </a:cubicBezTo>
                  <a:cubicBezTo>
                    <a:pt x="781916" y="964984"/>
                    <a:pt x="765566" y="971756"/>
                    <a:pt x="748517" y="971756"/>
                  </a:cubicBezTo>
                  <a:lnTo>
                    <a:pt x="64283" y="971756"/>
                  </a:lnTo>
                  <a:cubicBezTo>
                    <a:pt x="47234" y="971756"/>
                    <a:pt x="30884" y="964984"/>
                    <a:pt x="18828" y="952928"/>
                  </a:cubicBezTo>
                  <a:cubicBezTo>
                    <a:pt x="6773" y="940873"/>
                    <a:pt x="0" y="924522"/>
                    <a:pt x="0" y="907473"/>
                  </a:cubicBezTo>
                  <a:lnTo>
                    <a:pt x="0" y="64283"/>
                  </a:lnTo>
                  <a:cubicBezTo>
                    <a:pt x="0" y="47234"/>
                    <a:pt x="6773" y="30884"/>
                    <a:pt x="18828" y="18828"/>
                  </a:cubicBezTo>
                  <a:cubicBezTo>
                    <a:pt x="30884" y="6773"/>
                    <a:pt x="47234" y="0"/>
                    <a:pt x="64283" y="0"/>
                  </a:cubicBezTo>
                  <a:close/>
                </a:path>
              </a:pathLst>
            </a:custGeom>
            <a:blipFill>
              <a:blip r:embed="rId6"/>
              <a:stretch>
                <a:fillRect l="-36069" t="-20984" b="-20984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274071" y="-105489"/>
            <a:ext cx="8807832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MEET OUR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150146" y="4836064"/>
            <a:ext cx="3937903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Hoang Phuong Duy Nguyen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25483" y="4836064"/>
            <a:ext cx="3937903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Rustam Adigozalov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02512" y="4836064"/>
            <a:ext cx="3937903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Natarajan Govindarajan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30736" y="4836064"/>
            <a:ext cx="3390718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Rajkumar Ramu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324202" y="4836064"/>
            <a:ext cx="2390202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Henil Shah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0659" y="2084300"/>
            <a:ext cx="3086100" cy="1034820"/>
            <a:chOff x="0" y="0"/>
            <a:chExt cx="4114800" cy="137976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114800" cy="1379760"/>
              <a:chOff x="0" y="0"/>
              <a:chExt cx="812800" cy="27254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27254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72545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44604"/>
                    </a:lnTo>
                    <a:cubicBezTo>
                      <a:pt x="812800" y="178536"/>
                      <a:pt x="799321" y="211079"/>
                      <a:pt x="775327" y="235072"/>
                    </a:cubicBezTo>
                    <a:cubicBezTo>
                      <a:pt x="751333" y="259066"/>
                      <a:pt x="718791" y="272545"/>
                      <a:pt x="684859" y="272545"/>
                    </a:cubicBezTo>
                    <a:lnTo>
                      <a:pt x="127941" y="272545"/>
                    </a:lnTo>
                    <a:cubicBezTo>
                      <a:pt x="94009" y="272545"/>
                      <a:pt x="61467" y="259066"/>
                      <a:pt x="37473" y="235072"/>
                    </a:cubicBezTo>
                    <a:cubicBezTo>
                      <a:pt x="13479" y="211079"/>
                      <a:pt x="0" y="178536"/>
                      <a:pt x="0" y="144604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C0D1DF"/>
              </a:solidFill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12800" cy="3106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10507" y="221038"/>
              <a:ext cx="3293787" cy="871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2E3A44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Purpose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48399" y="6156210"/>
            <a:ext cx="382540" cy="38254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3059" y="4626090"/>
            <a:ext cx="4859482" cy="1034820"/>
            <a:chOff x="0" y="0"/>
            <a:chExt cx="1279864" cy="2725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79864" cy="272545"/>
            </a:xfrm>
            <a:custGeom>
              <a:avLst/>
              <a:gdLst/>
              <a:ahLst/>
              <a:cxnLst/>
              <a:rect l="l" t="t" r="r" b="b"/>
              <a:pathLst>
                <a:path w="1279864" h="272545">
                  <a:moveTo>
                    <a:pt x="81251" y="0"/>
                  </a:moveTo>
                  <a:lnTo>
                    <a:pt x="1198612" y="0"/>
                  </a:lnTo>
                  <a:cubicBezTo>
                    <a:pt x="1243486" y="0"/>
                    <a:pt x="1279864" y="36377"/>
                    <a:pt x="1279864" y="81251"/>
                  </a:cubicBezTo>
                  <a:lnTo>
                    <a:pt x="1279864" y="191294"/>
                  </a:lnTo>
                  <a:cubicBezTo>
                    <a:pt x="1279864" y="212843"/>
                    <a:pt x="1271303" y="233510"/>
                    <a:pt x="1256066" y="248747"/>
                  </a:cubicBezTo>
                  <a:cubicBezTo>
                    <a:pt x="1240828" y="263985"/>
                    <a:pt x="1220162" y="272545"/>
                    <a:pt x="1198612" y="272545"/>
                  </a:cubicBezTo>
                  <a:lnTo>
                    <a:pt x="81251" y="272545"/>
                  </a:lnTo>
                  <a:cubicBezTo>
                    <a:pt x="59702" y="272545"/>
                    <a:pt x="39035" y="263985"/>
                    <a:pt x="23798" y="248747"/>
                  </a:cubicBezTo>
                  <a:cubicBezTo>
                    <a:pt x="8560" y="233510"/>
                    <a:pt x="0" y="212843"/>
                    <a:pt x="0" y="191294"/>
                  </a:cubicBezTo>
                  <a:lnTo>
                    <a:pt x="0" y="81251"/>
                  </a:lnTo>
                  <a:cubicBezTo>
                    <a:pt x="0" y="59702"/>
                    <a:pt x="8560" y="39035"/>
                    <a:pt x="23798" y="23798"/>
                  </a:cubicBezTo>
                  <a:cubicBezTo>
                    <a:pt x="39035" y="8560"/>
                    <a:pt x="59702" y="0"/>
                    <a:pt x="81251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79864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23059" y="7986281"/>
            <a:ext cx="5391496" cy="1034820"/>
            <a:chOff x="0" y="0"/>
            <a:chExt cx="1419983" cy="27254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19983" cy="272545"/>
            </a:xfrm>
            <a:custGeom>
              <a:avLst/>
              <a:gdLst/>
              <a:ahLst/>
              <a:cxnLst/>
              <a:rect l="l" t="t" r="r" b="b"/>
              <a:pathLst>
                <a:path w="1419983" h="272545">
                  <a:moveTo>
                    <a:pt x="73233" y="0"/>
                  </a:moveTo>
                  <a:lnTo>
                    <a:pt x="1346749" y="0"/>
                  </a:lnTo>
                  <a:cubicBezTo>
                    <a:pt x="1366172" y="0"/>
                    <a:pt x="1384799" y="7716"/>
                    <a:pt x="1398533" y="21450"/>
                  </a:cubicBezTo>
                  <a:cubicBezTo>
                    <a:pt x="1412267" y="35184"/>
                    <a:pt x="1419983" y="53811"/>
                    <a:pt x="1419983" y="73233"/>
                  </a:cubicBezTo>
                  <a:lnTo>
                    <a:pt x="1419983" y="199312"/>
                  </a:lnTo>
                  <a:cubicBezTo>
                    <a:pt x="1419983" y="239757"/>
                    <a:pt x="1387195" y="272545"/>
                    <a:pt x="1346749" y="272545"/>
                  </a:cubicBezTo>
                  <a:lnTo>
                    <a:pt x="73233" y="272545"/>
                  </a:lnTo>
                  <a:cubicBezTo>
                    <a:pt x="32788" y="272545"/>
                    <a:pt x="0" y="239757"/>
                    <a:pt x="0" y="199312"/>
                  </a:cubicBezTo>
                  <a:lnTo>
                    <a:pt x="0" y="73233"/>
                  </a:lnTo>
                  <a:cubicBezTo>
                    <a:pt x="0" y="32788"/>
                    <a:pt x="32788" y="0"/>
                    <a:pt x="73233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419983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48399" y="7112886"/>
            <a:ext cx="382540" cy="38254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48399" y="9412018"/>
            <a:ext cx="382540" cy="38254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48399" y="3437472"/>
            <a:ext cx="382540" cy="3825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70659" y="800100"/>
            <a:ext cx="13874535" cy="970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INTRODUCTION TO THE MODELING SECTION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43641" y="3385820"/>
            <a:ext cx="11006051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To build and evaluate ML models (KNN &amp; ML) to predict sentiment from restaurant review text.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68977" y="6108585"/>
            <a:ext cx="11715404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Text sentiment analysis is a core ML application in marketing &amp; hospitality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30939" y="4775200"/>
            <a:ext cx="435455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Why This Matters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68977" y="7023620"/>
            <a:ext cx="12025745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Supports data-driven decision making (brand insights, customer experience)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830939" y="8135391"/>
            <a:ext cx="486440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Workflow Overview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43641" y="9364393"/>
            <a:ext cx="13466618" cy="13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Dataset → Preprocessing → TF-IDF → Scaling → PCA → Model Training → Evaluation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60045" y="2171700"/>
            <a:ext cx="8340267" cy="3936050"/>
            <a:chOff x="0" y="0"/>
            <a:chExt cx="11120356" cy="524806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168536"/>
              <a:ext cx="577328" cy="577328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7484"/>
              </a:solidFill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877502" y="-76200"/>
              <a:ext cx="6777633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500" b="1">
                  <a:solidFill>
                    <a:srgbClr val="2E3A4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Dataset Overview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11770"/>
              <a:ext cx="11120356" cy="4236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Yelp Open Dataset — restaurant reviews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Features used: review text + star ratings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Goal: convert ratings into binary sentiment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Positive = 4–5 stars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Negative = 1–2 stars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Neutral (3 stars) removed</a:t>
              </a:r>
            </a:p>
            <a:p>
              <a:pPr algn="l">
                <a:lnSpc>
                  <a:spcPts val="3639"/>
                </a:lnSpc>
              </a:pPr>
              <a:endPara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60045" y="5834064"/>
            <a:ext cx="8938510" cy="4232590"/>
            <a:chOff x="0" y="0"/>
            <a:chExt cx="11918014" cy="5643454"/>
          </a:xfrm>
        </p:grpSpPr>
        <p:sp>
          <p:nvSpPr>
            <p:cNvPr id="15" name="TextBox 15"/>
            <p:cNvSpPr txBox="1"/>
            <p:nvPr/>
          </p:nvSpPr>
          <p:spPr>
            <a:xfrm>
              <a:off x="877502" y="-76200"/>
              <a:ext cx="7559377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500" b="1">
                  <a:solidFill>
                    <a:srgbClr val="2E3A4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Cleaning Performed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168536"/>
              <a:ext cx="577328" cy="57732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7484"/>
              </a:solidFill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1216233"/>
              <a:ext cx="11918014" cy="44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Removed missing reviews and missing ratings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Dropped duplicate entries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Filtered out 3-star neutral reviews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Created sentiment column (0 or 1)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Kept only required fields for modeling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Normalized review text: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lowercasing</a:t>
              </a:r>
            </a:p>
            <a:p>
              <a:pPr marL="518157" lvl="1" indent="-259078" algn="just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removing punctuation &amp; non-alphabetic characters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03093" y="781050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DATASET DESCRIPTION &amp; CLEANING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62643" y="5086350"/>
            <a:ext cx="7296657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Benefit</a:t>
            </a:r>
            <a:r>
              <a:rPr lang="en-US" sz="28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: Clean, consistent dataset → stronger model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56905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91019" y="2281195"/>
            <a:ext cx="3086100" cy="1034820"/>
            <a:chOff x="0" y="0"/>
            <a:chExt cx="812800" cy="2725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272545"/>
            </a:xfrm>
            <a:custGeom>
              <a:avLst/>
              <a:gdLst/>
              <a:ahLst/>
              <a:cxnLst/>
              <a:rect l="l" t="t" r="r" b="b"/>
              <a:pathLst>
                <a:path w="812800" h="272545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4604"/>
                  </a:lnTo>
                  <a:cubicBezTo>
                    <a:pt x="812800" y="178536"/>
                    <a:pt x="799321" y="211079"/>
                    <a:pt x="775327" y="235072"/>
                  </a:cubicBezTo>
                  <a:cubicBezTo>
                    <a:pt x="751333" y="259066"/>
                    <a:pt x="718791" y="272545"/>
                    <a:pt x="684859" y="272545"/>
                  </a:cubicBezTo>
                  <a:lnTo>
                    <a:pt x="127941" y="272545"/>
                  </a:lnTo>
                  <a:cubicBezTo>
                    <a:pt x="94009" y="272545"/>
                    <a:pt x="61467" y="259066"/>
                    <a:pt x="37473" y="235072"/>
                  </a:cubicBezTo>
                  <a:cubicBezTo>
                    <a:pt x="13479" y="211079"/>
                    <a:pt x="0" y="178536"/>
                    <a:pt x="0" y="1446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68391" y="3718272"/>
            <a:ext cx="580876" cy="58087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91019" y="5202600"/>
            <a:ext cx="3806927" cy="1034820"/>
            <a:chOff x="0" y="0"/>
            <a:chExt cx="1002647" cy="2725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2647" cy="272545"/>
            </a:xfrm>
            <a:custGeom>
              <a:avLst/>
              <a:gdLst/>
              <a:ahLst/>
              <a:cxnLst/>
              <a:rect l="l" t="t" r="r" b="b"/>
              <a:pathLst>
                <a:path w="1002647" h="272545">
                  <a:moveTo>
                    <a:pt x="103716" y="0"/>
                  </a:moveTo>
                  <a:lnTo>
                    <a:pt x="898932" y="0"/>
                  </a:lnTo>
                  <a:cubicBezTo>
                    <a:pt x="926439" y="0"/>
                    <a:pt x="952819" y="10927"/>
                    <a:pt x="972270" y="30378"/>
                  </a:cubicBezTo>
                  <a:cubicBezTo>
                    <a:pt x="991720" y="49828"/>
                    <a:pt x="1002647" y="76209"/>
                    <a:pt x="1002647" y="103716"/>
                  </a:cubicBezTo>
                  <a:lnTo>
                    <a:pt x="1002647" y="168829"/>
                  </a:lnTo>
                  <a:cubicBezTo>
                    <a:pt x="1002647" y="196337"/>
                    <a:pt x="991720" y="222717"/>
                    <a:pt x="972270" y="242167"/>
                  </a:cubicBezTo>
                  <a:cubicBezTo>
                    <a:pt x="952819" y="261618"/>
                    <a:pt x="926439" y="272545"/>
                    <a:pt x="898932" y="272545"/>
                  </a:cubicBezTo>
                  <a:lnTo>
                    <a:pt x="103716" y="272545"/>
                  </a:lnTo>
                  <a:cubicBezTo>
                    <a:pt x="76209" y="272545"/>
                    <a:pt x="49828" y="261618"/>
                    <a:pt x="30378" y="242167"/>
                  </a:cubicBezTo>
                  <a:cubicBezTo>
                    <a:pt x="10927" y="222717"/>
                    <a:pt x="0" y="196337"/>
                    <a:pt x="0" y="168829"/>
                  </a:cubicBezTo>
                  <a:lnTo>
                    <a:pt x="0" y="103716"/>
                  </a:lnTo>
                  <a:cubicBezTo>
                    <a:pt x="0" y="76209"/>
                    <a:pt x="10927" y="49828"/>
                    <a:pt x="30378" y="30378"/>
                  </a:cubicBezTo>
                  <a:cubicBezTo>
                    <a:pt x="49828" y="10927"/>
                    <a:pt x="76209" y="0"/>
                    <a:pt x="103716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02647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68391" y="6627945"/>
            <a:ext cx="580876" cy="58087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8700" y="-276225"/>
            <a:ext cx="15431128" cy="2221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FEATURE ENGINEERING &amp; PREPROCESSING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34069" y="3449365"/>
            <a:ext cx="10185645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Prepare the text reviews so machine learning models can understand them by converting text into numerical features and reducing complexity.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98899" y="2432390"/>
            <a:ext cx="247034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Objective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60424" y="5351710"/>
            <a:ext cx="4068119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Methods Used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34069" y="6508416"/>
            <a:ext cx="10185645" cy="226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TF-IDF: Converted cleaned text into 3,000 numerical features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Train–Test Split (80/20)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Scaling (StandardScaler): Fit on train → transform on validation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PCA: Reduced 3,000 features to 100 components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0391" y="2326577"/>
            <a:ext cx="5080618" cy="1014103"/>
            <a:chOff x="0" y="0"/>
            <a:chExt cx="1338105" cy="2670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105" cy="267089"/>
            </a:xfrm>
            <a:custGeom>
              <a:avLst/>
              <a:gdLst/>
              <a:ahLst/>
              <a:cxnLst/>
              <a:rect l="l" t="t" r="r" b="b"/>
              <a:pathLst>
                <a:path w="1338105" h="267089">
                  <a:moveTo>
                    <a:pt x="77715" y="0"/>
                  </a:moveTo>
                  <a:lnTo>
                    <a:pt x="1260391" y="0"/>
                  </a:lnTo>
                  <a:cubicBezTo>
                    <a:pt x="1303311" y="0"/>
                    <a:pt x="1338105" y="34794"/>
                    <a:pt x="1338105" y="77715"/>
                  </a:cubicBezTo>
                  <a:lnTo>
                    <a:pt x="1338105" y="189374"/>
                  </a:lnTo>
                  <a:cubicBezTo>
                    <a:pt x="1338105" y="232295"/>
                    <a:pt x="1303311" y="267089"/>
                    <a:pt x="1260391" y="267089"/>
                  </a:cubicBezTo>
                  <a:lnTo>
                    <a:pt x="77715" y="267089"/>
                  </a:lnTo>
                  <a:cubicBezTo>
                    <a:pt x="34794" y="267089"/>
                    <a:pt x="0" y="232295"/>
                    <a:pt x="0" y="189374"/>
                  </a:cubicBezTo>
                  <a:lnTo>
                    <a:pt x="0" y="77715"/>
                  </a:lnTo>
                  <a:cubicBezTo>
                    <a:pt x="0" y="34794"/>
                    <a:pt x="34794" y="0"/>
                    <a:pt x="77715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8105" cy="305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437604" y="3967038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81100" y="3721618"/>
            <a:ext cx="3719201" cy="5582290"/>
          </a:xfrm>
          <a:custGeom>
            <a:avLst/>
            <a:gdLst/>
            <a:ahLst/>
            <a:cxnLst/>
            <a:rect l="l" t="t" r="r" b="b"/>
            <a:pathLst>
              <a:path w="3719201" h="5582290">
                <a:moveTo>
                  <a:pt x="0" y="0"/>
                </a:moveTo>
                <a:lnTo>
                  <a:pt x="3719201" y="0"/>
                </a:lnTo>
                <a:lnTo>
                  <a:pt x="3719201" y="5582290"/>
                </a:lnTo>
                <a:lnTo>
                  <a:pt x="0" y="5582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AutoShape 9"/>
          <p:cNvSpPr/>
          <p:nvPr/>
        </p:nvSpPr>
        <p:spPr>
          <a:xfrm>
            <a:off x="1181100" y="94107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6274030" y="2326577"/>
            <a:ext cx="6900371" cy="1014103"/>
            <a:chOff x="0" y="0"/>
            <a:chExt cx="1817382" cy="2670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7382" cy="267089"/>
            </a:xfrm>
            <a:custGeom>
              <a:avLst/>
              <a:gdLst/>
              <a:ahLst/>
              <a:cxnLst/>
              <a:rect l="l" t="t" r="r" b="b"/>
              <a:pathLst>
                <a:path w="1817382" h="267089">
                  <a:moveTo>
                    <a:pt x="57220" y="0"/>
                  </a:moveTo>
                  <a:lnTo>
                    <a:pt x="1760162" y="0"/>
                  </a:lnTo>
                  <a:cubicBezTo>
                    <a:pt x="1775338" y="0"/>
                    <a:pt x="1789892" y="6028"/>
                    <a:pt x="1800622" y="16759"/>
                  </a:cubicBezTo>
                  <a:cubicBezTo>
                    <a:pt x="1811353" y="27490"/>
                    <a:pt x="1817382" y="42044"/>
                    <a:pt x="1817382" y="57220"/>
                  </a:cubicBezTo>
                  <a:lnTo>
                    <a:pt x="1817382" y="209869"/>
                  </a:lnTo>
                  <a:cubicBezTo>
                    <a:pt x="1817382" y="225045"/>
                    <a:pt x="1811353" y="239599"/>
                    <a:pt x="1800622" y="250330"/>
                  </a:cubicBezTo>
                  <a:cubicBezTo>
                    <a:pt x="1789892" y="261060"/>
                    <a:pt x="1775338" y="267089"/>
                    <a:pt x="1760162" y="267089"/>
                  </a:cubicBezTo>
                  <a:lnTo>
                    <a:pt x="57220" y="267089"/>
                  </a:lnTo>
                  <a:cubicBezTo>
                    <a:pt x="42044" y="267089"/>
                    <a:pt x="27490" y="261060"/>
                    <a:pt x="16759" y="250330"/>
                  </a:cubicBezTo>
                  <a:cubicBezTo>
                    <a:pt x="6028" y="239599"/>
                    <a:pt x="0" y="225045"/>
                    <a:pt x="0" y="209869"/>
                  </a:cubicBezTo>
                  <a:lnTo>
                    <a:pt x="0" y="57220"/>
                  </a:lnTo>
                  <a:cubicBezTo>
                    <a:pt x="0" y="42044"/>
                    <a:pt x="6028" y="27490"/>
                    <a:pt x="16759" y="16759"/>
                  </a:cubicBezTo>
                  <a:cubicBezTo>
                    <a:pt x="27490" y="6028"/>
                    <a:pt x="42044" y="0"/>
                    <a:pt x="5722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7382" cy="305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073655" y="3459407"/>
            <a:ext cx="10185645" cy="272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TF-IDF turns reviews into numerical meaning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Scaling prevents large features from dominating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PCA speeds up training &amp; removes noise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These steps create standardized, noise-reduced inputs for more accurate models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6638116" y="5848755"/>
            <a:ext cx="3086100" cy="1034820"/>
            <a:chOff x="0" y="0"/>
            <a:chExt cx="812800" cy="2725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272545"/>
            </a:xfrm>
            <a:custGeom>
              <a:avLst/>
              <a:gdLst/>
              <a:ahLst/>
              <a:cxnLst/>
              <a:rect l="l" t="t" r="r" b="b"/>
              <a:pathLst>
                <a:path w="812800" h="272545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4604"/>
                  </a:lnTo>
                  <a:cubicBezTo>
                    <a:pt x="812800" y="178536"/>
                    <a:pt x="799321" y="211079"/>
                    <a:pt x="775327" y="235072"/>
                  </a:cubicBezTo>
                  <a:cubicBezTo>
                    <a:pt x="751333" y="259066"/>
                    <a:pt x="718791" y="272545"/>
                    <a:pt x="684859" y="272545"/>
                  </a:cubicBezTo>
                  <a:lnTo>
                    <a:pt x="127941" y="272545"/>
                  </a:lnTo>
                  <a:cubicBezTo>
                    <a:pt x="94009" y="272545"/>
                    <a:pt x="61467" y="259066"/>
                    <a:pt x="37473" y="235072"/>
                  </a:cubicBezTo>
                  <a:cubicBezTo>
                    <a:pt x="13479" y="211079"/>
                    <a:pt x="0" y="178536"/>
                    <a:pt x="0" y="1446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180900" y="7052371"/>
            <a:ext cx="7831381" cy="318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train_X_pca (34,976 × 100)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valid_X_pca (8,744 × 100)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Clean, structured data ready for model training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Final processed dataset used by all downstream models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646608" y="3721680"/>
            <a:ext cx="580876" cy="58087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46608" y="7400499"/>
            <a:ext cx="580876" cy="58087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8700" y="-276225"/>
            <a:ext cx="15431128" cy="2221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FEATURE ENGINEERING &amp; PREPROCESSING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0391" y="2465329"/>
            <a:ext cx="508061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Workflow Diagram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4030" y="2465632"/>
            <a:ext cx="713155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Why These Steps Matter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37046" y="6007532"/>
            <a:ext cx="247034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274478"/>
            <a:ext cx="432996" cy="43299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50632" y="6346346"/>
            <a:ext cx="7673789" cy="2802293"/>
            <a:chOff x="0" y="0"/>
            <a:chExt cx="10231719" cy="373639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50"/>
              <a:ext cx="10231719" cy="665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70"/>
                </a:lnSpc>
                <a:spcBef>
                  <a:spcPct val="0"/>
                </a:spcBef>
              </a:pPr>
              <a:r>
                <a:rPr lang="en-US" sz="3050" b="1">
                  <a:solidFill>
                    <a:srgbClr val="2E3A4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Review Length Analysis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308505" y="30579"/>
              <a:ext cx="577328" cy="57732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7484"/>
              </a:solidFill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08505" y="719293"/>
              <a:ext cx="7227467" cy="3017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lengths vary from short comments to long narratives.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Right-skewed distribution indicates most reviews fall within 20–100 words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431388" y="1855376"/>
            <a:ext cx="6312277" cy="4423119"/>
          </a:xfrm>
          <a:custGeom>
            <a:avLst/>
            <a:gdLst/>
            <a:ahLst/>
            <a:cxnLst/>
            <a:rect l="l" t="t" r="r" b="b"/>
            <a:pathLst>
              <a:path w="6312277" h="4423119">
                <a:moveTo>
                  <a:pt x="0" y="0"/>
                </a:moveTo>
                <a:lnTo>
                  <a:pt x="6312277" y="0"/>
                </a:lnTo>
                <a:lnTo>
                  <a:pt x="6312277" y="4423118"/>
                </a:lnTo>
                <a:lnTo>
                  <a:pt x="0" y="4423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Freeform 18"/>
          <p:cNvSpPr/>
          <p:nvPr/>
        </p:nvSpPr>
        <p:spPr>
          <a:xfrm>
            <a:off x="853987" y="5384329"/>
            <a:ext cx="6616477" cy="4636277"/>
          </a:xfrm>
          <a:custGeom>
            <a:avLst/>
            <a:gdLst/>
            <a:ahLst/>
            <a:cxnLst/>
            <a:rect l="l" t="t" r="r" b="b"/>
            <a:pathLst>
              <a:path w="6616477" h="4636277">
                <a:moveTo>
                  <a:pt x="0" y="0"/>
                </a:moveTo>
                <a:lnTo>
                  <a:pt x="6616477" y="0"/>
                </a:lnTo>
                <a:lnTo>
                  <a:pt x="6616477" y="4636277"/>
                </a:lnTo>
                <a:lnTo>
                  <a:pt x="0" y="4636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1" name="TextBox 21"/>
          <p:cNvSpPr txBox="1"/>
          <p:nvPr/>
        </p:nvSpPr>
        <p:spPr>
          <a:xfrm>
            <a:off x="703093" y="781050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 EXPLORATORY DATA ANALYSIS (EDA)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5198" y="2217328"/>
            <a:ext cx="5217400" cy="51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1"/>
              </a:lnSpc>
              <a:spcBef>
                <a:spcPct val="0"/>
              </a:spcBef>
            </a:pPr>
            <a:r>
              <a:rPr lang="en-US" sz="3051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Sentiment Distribution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888144"/>
            <a:ext cx="7721932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Sentiment classes are balanced, helping avoid model bias.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Positive reviews dominate but distribution is suitable for supervised learning.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2E3A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274478"/>
            <a:ext cx="432996" cy="43299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03093" y="781050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 EXPLORATORY DATA ANALYSIS (EDA)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5198" y="2217328"/>
            <a:ext cx="5217400" cy="51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1"/>
              </a:lnSpc>
              <a:spcBef>
                <a:spcPct val="0"/>
              </a:spcBef>
            </a:pPr>
            <a:r>
              <a:rPr lang="en-US" sz="3051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Insights Summary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195455"/>
            <a:ext cx="14392894" cy="626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589" lvl="1" indent="-382294" algn="l">
              <a:lnSpc>
                <a:spcPts val="4957"/>
              </a:lnSpc>
              <a:buFont typeface="Arial"/>
              <a:buChar char="•"/>
            </a:pPr>
            <a:r>
              <a:rPr lang="en-US" sz="3541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 Balanced sentiment labels ensure fair model training and minimize bias.</a:t>
            </a:r>
          </a:p>
          <a:p>
            <a:pPr marL="764589" lvl="1" indent="-382294" algn="l">
              <a:lnSpc>
                <a:spcPts val="4957"/>
              </a:lnSpc>
              <a:buFont typeface="Arial"/>
              <a:buChar char="•"/>
            </a:pPr>
            <a:r>
              <a:rPr lang="en-US" sz="3541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 Text length variability reveals diverse writing styles and vocabulary richness.</a:t>
            </a:r>
          </a:p>
          <a:p>
            <a:pPr marL="764589" lvl="1" indent="-382294" algn="l">
              <a:lnSpc>
                <a:spcPts val="4957"/>
              </a:lnSpc>
              <a:buFont typeface="Arial"/>
              <a:buChar char="•"/>
            </a:pPr>
            <a:r>
              <a:rPr lang="en-US" sz="3541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 KDE + histogram from notebook show a right-skewed pattern, confirming long-tail distributions.</a:t>
            </a:r>
          </a:p>
          <a:p>
            <a:pPr marL="764589" lvl="1" indent="-382294" algn="l">
              <a:lnSpc>
                <a:spcPts val="4957"/>
              </a:lnSpc>
              <a:buFont typeface="Arial"/>
              <a:buChar char="•"/>
            </a:pPr>
            <a:r>
              <a:rPr lang="en-US" sz="3541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 Variability in textual content supports using TF-IDF to capture meaningful term weights.</a:t>
            </a:r>
          </a:p>
          <a:p>
            <a:pPr marL="764589" lvl="1" indent="-382294" algn="l">
              <a:lnSpc>
                <a:spcPts val="4957"/>
              </a:lnSpc>
              <a:buFont typeface="Arial"/>
              <a:buChar char="•"/>
            </a:pPr>
            <a:r>
              <a:rPr lang="en-US" sz="3541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EDA results validate dataset suitability and guide feature engineering and model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39362" y="2298102"/>
            <a:ext cx="432996" cy="4329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27502" y="2298102"/>
            <a:ext cx="432996" cy="43299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39362" y="6102093"/>
            <a:ext cx="5637098" cy="2105661"/>
            <a:chOff x="0" y="0"/>
            <a:chExt cx="7516131" cy="2807547"/>
          </a:xfrm>
        </p:grpSpPr>
        <p:sp>
          <p:nvSpPr>
            <p:cNvPr id="16" name="TextBox 16"/>
            <p:cNvSpPr txBox="1"/>
            <p:nvPr/>
          </p:nvSpPr>
          <p:spPr>
            <a:xfrm>
              <a:off x="641051" y="-76200"/>
              <a:ext cx="5017530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500" b="1">
                  <a:solidFill>
                    <a:srgbClr val="2E3A4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Performance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168536"/>
              <a:ext cx="577328" cy="57732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7484"/>
              </a:solidFill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88664" y="1009650"/>
              <a:ext cx="7227467" cy="1797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Train = 0.91    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 = 0.85  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F1-Score ≈ 0.90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27502" y="6216393"/>
            <a:ext cx="432996" cy="43299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03093" y="781050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K-NEAREST NEIGHBORS (KNN)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72358" y="2095500"/>
            <a:ext cx="35758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KNN?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39362" y="2916240"/>
            <a:ext cx="6174288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Similarity-based 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Good for classification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Boosted by PCA/scaling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90651" y="2095500"/>
            <a:ext cx="35758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Setup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60498" y="2916240"/>
            <a:ext cx="6324759" cy="273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Input features: TF-IDF → PCA (100 components) → StandardScaler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Tuned k = 1 to 15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Best k = 15 (highest validation accuracy)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2E3A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590651" y="6025893"/>
            <a:ext cx="425082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Interpretation 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60498" y="6845043"/>
            <a:ext cx="6108261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Decent performance after PCA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Still weaker than LR / Naïve Bayes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Struggles with sparse text data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2E3A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274478"/>
            <a:ext cx="432996" cy="43299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50632" y="2274478"/>
            <a:ext cx="432996" cy="43299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020812"/>
            <a:ext cx="5420600" cy="2448561"/>
            <a:chOff x="0" y="0"/>
            <a:chExt cx="7227467" cy="3264747"/>
          </a:xfrm>
        </p:grpSpPr>
        <p:sp>
          <p:nvSpPr>
            <p:cNvPr id="15" name="TextBox 15"/>
            <p:cNvSpPr txBox="1"/>
            <p:nvPr/>
          </p:nvSpPr>
          <p:spPr>
            <a:xfrm>
              <a:off x="641051" y="-76200"/>
              <a:ext cx="5017530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500" b="1">
                  <a:solidFill>
                    <a:srgbClr val="2E3A4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Performance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168536"/>
              <a:ext cx="577328" cy="57732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7484"/>
              </a:solidFill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857250"/>
              <a:ext cx="7227467" cy="24074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Train Accuracy: 0.90–0.91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Validation Accuracy: ≈ 0.90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E3A44"/>
                  </a:solidFill>
                  <a:latin typeface="Open Sans"/>
                  <a:ea typeface="Open Sans"/>
                  <a:cs typeface="Open Sans"/>
                  <a:sym typeface="Open Sans"/>
                </a:rPr>
                <a:t>F1-score: ≈ 0.94</a:t>
              </a:r>
            </a:p>
            <a:p>
              <a:pPr algn="l">
                <a:lnSpc>
                  <a:spcPts val="3639"/>
                </a:lnSpc>
              </a:pPr>
              <a:endPara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50632" y="6125211"/>
            <a:ext cx="432996" cy="43299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03093" y="781050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LOGISTIC REGRESSION (LR)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2095500"/>
            <a:ext cx="35758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LR?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2888144"/>
            <a:ext cx="7721932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Works well for text classification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Handles high-dimensional sparse data.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Strong and simple baseline model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Fast to train and interpret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2E3A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371778" y="2183294"/>
            <a:ext cx="35758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Setup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67130" y="2950173"/>
            <a:ext cx="6091246" cy="273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Input = PCA features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Regularization: default (helps prevent overfitting)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Output = binary sentiment (positive/negative)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2E3A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371778" y="5922608"/>
            <a:ext cx="425082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E3A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Interpretation 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50632" y="6627458"/>
            <a:ext cx="6245528" cy="319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Balanced performance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Less risk of overfitting due to regularization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Easy to interpret coefficients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Good benchmark for comparing other models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2E3A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76870" y="2221865"/>
            <a:ext cx="15965210" cy="464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What It Is: A regression model used here only for comparison.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Predicts a continuous score (0–1) which we convert into sentiment.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How We Used It: Applied PCA (100 components) + Standard Scaler.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Converted predictions: score ≥ 0.5 → Positive.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Performance : Accuracy: 92.03% F1-Score: 0.9506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Works surprisingly well but still not ideal for text classification.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Good baseline model, but not designed for sentiment classification.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51413" y="401638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 MULTIPLE LINEAR REGRESSION (MLR)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374522" y="1960220"/>
            <a:ext cx="17538955" cy="553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What It Is : A tree-based classifier that splits data using important word features.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Does not require scaling or PCA.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How We Used It: Trained directly on TF-IDF features, handles non-linear patterns in text.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Performance: Accuracy: 85.32%, F1-Score: 0.9053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Strong on training set but lower test accuracy → overfitting.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Useful for interpretation, but not the best performer for text.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61785" y="8887033"/>
            <a:ext cx="1586288" cy="158628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1359" y="401638"/>
            <a:ext cx="1680759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CART - DECISION TREE  CLASSIFIER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731359" y="401638"/>
            <a:ext cx="1680759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NAÏVE BAYES (MULTINOMIAL NB)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4522" y="1960220"/>
            <a:ext cx="17538955" cy="484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What It Is: A probability-based classifier designed for text data.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Works extremely well with TF-IDF word frequencies.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How We Used It: Trained directly on TF-IDF sparse matrix.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Fast, simple, and efficient for high-dimensional text.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Performance: Accuracy: 92.62%, F1-Score: 0.9545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Best balance of accuracy, speed, and stability.</a:t>
            </a:r>
          </a:p>
          <a:p>
            <a:pPr marL="844769" lvl="1" indent="-422385" algn="l">
              <a:lnSpc>
                <a:spcPts val="5477"/>
              </a:lnSpc>
              <a:buFont typeface="Arial"/>
              <a:buChar char="•"/>
            </a:pPr>
            <a:r>
              <a:rPr lang="en-US" sz="3912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One of the strongest models for text sentiment analysis.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61785" y="8887033"/>
            <a:ext cx="1586288" cy="15862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31359" y="7083180"/>
            <a:ext cx="877695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b="1" i="1">
                <a:solidFill>
                  <a:srgbClr val="2E3A44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NB: 92.62%   MLR: 9203%   CART: 85.32%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0064" y="3051238"/>
            <a:ext cx="8378015" cy="5308473"/>
          </a:xfrm>
          <a:custGeom>
            <a:avLst/>
            <a:gdLst/>
            <a:ahLst/>
            <a:cxnLst/>
            <a:rect l="l" t="t" r="r" b="b"/>
            <a:pathLst>
              <a:path w="8378015" h="5308473">
                <a:moveTo>
                  <a:pt x="0" y="0"/>
                </a:moveTo>
                <a:lnTo>
                  <a:pt x="8378014" y="0"/>
                </a:lnTo>
                <a:lnTo>
                  <a:pt x="8378014" y="5308474"/>
                </a:lnTo>
                <a:lnTo>
                  <a:pt x="0" y="5308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7" r="-170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8378015" y="2343785"/>
            <a:ext cx="9674429" cy="664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Multinomial Naïve Bayes achieved the highest accuracy (92.6%).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and Multiple Linear Regression performed competitively.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KNN showed the weakest performance due to high-dimensional TF-IDF features.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Naïve Bayes works well for sparse text because it models term frequencies effectively.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3093" y="781050"/>
            <a:ext cx="15396606" cy="10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OVERALL MODEL PERFORMANCE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53291" y="3030036"/>
            <a:ext cx="7624723" cy="5351514"/>
          </a:xfrm>
          <a:custGeom>
            <a:avLst/>
            <a:gdLst/>
            <a:ahLst/>
            <a:cxnLst/>
            <a:rect l="l" t="t" r="r" b="b"/>
            <a:pathLst>
              <a:path w="7624723" h="5351514">
                <a:moveTo>
                  <a:pt x="0" y="0"/>
                </a:moveTo>
                <a:lnTo>
                  <a:pt x="7624724" y="0"/>
                </a:lnTo>
                <a:lnTo>
                  <a:pt x="7624724" y="5351513"/>
                </a:lnTo>
                <a:lnTo>
                  <a:pt x="0" y="5351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8378015" y="2448560"/>
            <a:ext cx="9674429" cy="531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High true positives and true negatives indicate strong model reliability.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Very few misclassifications across both classes.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Demonstrates effective generalization on unseen text.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Best suited for text-based sentiment classification.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80037"/>
            <a:ext cx="15396606" cy="189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BEST MODEL PERFORMANCE: MULTINOMIAL NAÏVE BAYES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882213" y="-1345629"/>
            <a:ext cx="13341342" cy="133413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CA"/>
          </a:p>
        </p:txBody>
      </p:sp>
      <p:grpSp>
        <p:nvGrpSpPr>
          <p:cNvPr id="9" name="Group 9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58239" y="3924493"/>
            <a:ext cx="6695941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76878" y="1452245"/>
            <a:ext cx="6668316" cy="731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Multinomial Naïve Bayes achieved the best performance for sentiment classification.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Logistic Regression and MLR performed well, while KNN and Decision Tree showed lower accuracy.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TF-IDF with normalization and PCA provided an effective preprocessing pipeline.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Excluding neutral reviews simplified the task but may limit real-world generalization.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Future work: explore word embeddings, transformers, and multiclass sentiment analysis.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1965" y="-287671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1909" y="2963670"/>
            <a:ext cx="7864182" cy="459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  <a:p>
            <a:pPr algn="ctr">
              <a:lnSpc>
                <a:spcPts val="1860"/>
              </a:lnSpc>
            </a:pPr>
            <a:endParaRPr lang="en-US" sz="17000" b="1">
              <a:solidFill>
                <a:srgbClr val="627484"/>
              </a:solidFill>
              <a:latin typeface="Nirand Bold"/>
              <a:ea typeface="Nirand Bold"/>
              <a:cs typeface="Nirand Bold"/>
              <a:sym typeface="Nirand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076091" y="710993"/>
            <a:ext cx="2513081" cy="25130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CA"/>
          </a:p>
        </p:txBody>
      </p:sp>
      <p:sp>
        <p:nvSpPr>
          <p:cNvPr id="10" name="AutoShape 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11" name="Group 11"/>
          <p:cNvGrpSpPr/>
          <p:nvPr/>
        </p:nvGrpSpPr>
        <p:grpSpPr>
          <a:xfrm>
            <a:off x="2740932" y="6266276"/>
            <a:ext cx="1586288" cy="15862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1018</Words>
  <Application>Microsoft Office PowerPoint</Application>
  <PresentationFormat>Custom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Nunito</vt:lpstr>
      <vt:lpstr>Arimo</vt:lpstr>
      <vt:lpstr>Nirand Bold</vt:lpstr>
      <vt:lpstr>Nunito Bold</vt:lpstr>
      <vt:lpstr>Calibri</vt:lpstr>
      <vt:lpstr>Open Sans Bold Italics</vt:lpstr>
      <vt:lpstr>Open Sans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G8 Final project</dc:title>
  <cp:lastModifiedBy>Rajkumar Ramu</cp:lastModifiedBy>
  <cp:revision>2</cp:revision>
  <dcterms:created xsi:type="dcterms:W3CDTF">2006-08-16T00:00:00Z</dcterms:created>
  <dcterms:modified xsi:type="dcterms:W3CDTF">2025-12-12T02:43:59Z</dcterms:modified>
  <dc:identifier>DAG6aDYwawI</dc:identifier>
</cp:coreProperties>
</file>