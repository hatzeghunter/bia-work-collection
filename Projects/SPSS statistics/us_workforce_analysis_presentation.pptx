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Lst>
  <p:sldSz cy="5143500" cx="9144000"/>
  <p:notesSz cx="6858000" cy="9144000"/>
  <p:embeddedFontLst>
    <p:embeddedFont>
      <p:font typeface="Helvetica Neue"/>
      <p:regular r:id="rId28"/>
      <p:bold r:id="rId29"/>
      <p:italic r:id="rId30"/>
      <p:boldItalic r:id="rId3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font" Target="fonts/HelveticaNeue-regular.fntdata"/><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HelveticaNeue-bold.fntdata"/><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HelveticaNeue-boldItalic.fntdata"/><Relationship Id="rId30" Type="http://schemas.openxmlformats.org/officeDocument/2006/relationships/font" Target="fonts/HelveticaNeue-italic.fntdata"/><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g3387c58604a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 name="Google Shape;58;g3387c58604a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 name="Shape 64"/>
        <p:cNvGrpSpPr/>
        <p:nvPr/>
      </p:nvGrpSpPr>
      <p:grpSpPr>
        <a:xfrm>
          <a:off x="0" y="0"/>
          <a:ext cx="0" cy="0"/>
          <a:chOff x="0" y="0"/>
          <a:chExt cx="0" cy="0"/>
        </a:xfrm>
      </p:grpSpPr>
      <p:sp>
        <p:nvSpPr>
          <p:cNvPr id="65" name="Google Shape;65;g34102921129_2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6" name="Google Shape;66;g34102921129_2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 name="Shape 71"/>
        <p:cNvGrpSpPr/>
        <p:nvPr/>
      </p:nvGrpSpPr>
      <p:grpSpPr>
        <a:xfrm>
          <a:off x="0" y="0"/>
          <a:ext cx="0" cy="0"/>
          <a:chOff x="0" y="0"/>
          <a:chExt cx="0" cy="0"/>
        </a:xfrm>
      </p:grpSpPr>
      <p:sp>
        <p:nvSpPr>
          <p:cNvPr id="72" name="Google Shape;72;g341e2f0885e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3" name="Google Shape;73;g341e2f0885e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 name="Shape 82"/>
        <p:cNvGrpSpPr/>
        <p:nvPr/>
      </p:nvGrpSpPr>
      <p:grpSpPr>
        <a:xfrm>
          <a:off x="0" y="0"/>
          <a:ext cx="0" cy="0"/>
          <a:chOff x="0" y="0"/>
          <a:chExt cx="0" cy="0"/>
        </a:xfrm>
      </p:grpSpPr>
      <p:sp>
        <p:nvSpPr>
          <p:cNvPr id="83" name="Google Shape;83;g341e2f0885e_0_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4" name="Google Shape;84;g341e2f0885e_0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g341ff647e8c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2" name="Google Shape;92;g341ff647e8c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g341ff647e8c_0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0" name="Google Shape;100;g341ff647e8c_0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g34102921129_2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7" name="Google Shape;107;g34102921129_2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g3387c58604a_0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5" name="Google Shape;115;g3387c58604a_0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g3387c58604a_0_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4" name="Google Shape;124;g3387c58604a_0_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g3387c58604a_0_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2" name="Google Shape;132;g3387c58604a_0_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g33893e25a1c_1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9" name="Google Shape;139;g33893e25a1c_1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g33893e25a1c_1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7" name="Google Shape;147;g33893e25a1c_1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g34160df5785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5" name="Google Shape;155;g34160df5785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g34160df5785_0_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6" name="Google Shape;186;g34160df5785_0_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g3415a7c0677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0" name="Google Shape;200;g3415a7c0677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 name="Shape 206"/>
        <p:cNvGrpSpPr/>
        <p:nvPr/>
      </p:nvGrpSpPr>
      <p:grpSpPr>
        <a:xfrm>
          <a:off x="0" y="0"/>
          <a:ext cx="0" cy="0"/>
          <a:chOff x="0" y="0"/>
          <a:chExt cx="0" cy="0"/>
        </a:xfrm>
      </p:grpSpPr>
      <p:sp>
        <p:nvSpPr>
          <p:cNvPr id="207" name="Google Shape;207;g3415a7c0677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8" name="Google Shape;208;g3415a7c0677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g3415a7c0677_0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6" name="Google Shape;216;g3415a7c0677_0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g3415a7c0677_0_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6" name="Google Shape;226;g3415a7c0677_0_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6" name="Shape 236"/>
        <p:cNvGrpSpPr/>
        <p:nvPr/>
      </p:nvGrpSpPr>
      <p:grpSpPr>
        <a:xfrm>
          <a:off x="0" y="0"/>
          <a:ext cx="0" cy="0"/>
          <a:chOff x="0" y="0"/>
          <a:chExt cx="0" cy="0"/>
        </a:xfrm>
      </p:grpSpPr>
      <p:sp>
        <p:nvSpPr>
          <p:cNvPr id="237" name="Google Shape;237;g3415a7c0677_0_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8" name="Google Shape;238;g3415a7c0677_0_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 name="Shape 249"/>
        <p:cNvGrpSpPr/>
        <p:nvPr/>
      </p:nvGrpSpPr>
      <p:grpSpPr>
        <a:xfrm>
          <a:off x="0" y="0"/>
          <a:ext cx="0" cy="0"/>
          <a:chOff x="0" y="0"/>
          <a:chExt cx="0" cy="0"/>
        </a:xfrm>
      </p:grpSpPr>
      <p:sp>
        <p:nvSpPr>
          <p:cNvPr id="250" name="Google Shape;250;g3415a7c0677_0_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1" name="Google Shape;251;g3415a7c0677_0_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5" name="Shape 255"/>
        <p:cNvGrpSpPr/>
        <p:nvPr/>
      </p:nvGrpSpPr>
      <p:grpSpPr>
        <a:xfrm>
          <a:off x="0" y="0"/>
          <a:ext cx="0" cy="0"/>
          <a:chOff x="0" y="0"/>
          <a:chExt cx="0" cy="0"/>
        </a:xfrm>
      </p:grpSpPr>
      <p:sp>
        <p:nvSpPr>
          <p:cNvPr id="256" name="Google Shape;256;g341ff647e8c_2_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7" name="Google Shape;257;g341ff647e8c_2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xml"/><Relationship Id="rId3" Type="http://schemas.openxmlformats.org/officeDocument/2006/relationships/image" Target="../media/image19.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xml"/><Relationship Id="rId3" Type="http://schemas.openxmlformats.org/officeDocument/2006/relationships/image" Target="../media/image9.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4.xml"/><Relationship Id="rId3" Type="http://schemas.openxmlformats.org/officeDocument/2006/relationships/image" Target="../media/image5.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5.xml"/><Relationship Id="rId3"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6.xml"/><Relationship Id="rId3"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7.xml"/><Relationship Id="rId3" Type="http://schemas.openxmlformats.org/officeDocument/2006/relationships/image" Target="../media/image1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8.xml"/><Relationship Id="rId3" Type="http://schemas.openxmlformats.org/officeDocument/2006/relationships/image" Target="../media/image1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9.xml"/><Relationship Id="rId3" Type="http://schemas.openxmlformats.org/officeDocument/2006/relationships/image" Target="../media/image4.png"/><Relationship Id="rId4" Type="http://schemas.openxmlformats.org/officeDocument/2006/relationships/image" Target="../media/image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0.xml"/><Relationship Id="rId3" Type="http://schemas.openxmlformats.org/officeDocument/2006/relationships/image" Target="../media/image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1.xml"/><Relationship Id="rId3" Type="http://schemas.openxmlformats.org/officeDocument/2006/relationships/image" Target="../media/image1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2.xml"/><Relationship Id="rId3" Type="http://schemas.openxmlformats.org/officeDocument/2006/relationships/image" Target="../media/image18.png"/><Relationship Id="rId4" Type="http://schemas.openxmlformats.org/officeDocument/2006/relationships/image" Target="../media/image10.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3.xml"/><Relationship Id="rId3" Type="http://schemas.openxmlformats.org/officeDocument/2006/relationships/image" Target="../media/image6.png"/><Relationship Id="rId4" Type="http://schemas.openxmlformats.org/officeDocument/2006/relationships/image" Target="../media/image2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4.xml"/><Relationship Id="rId3" Type="http://schemas.openxmlformats.org/officeDocument/2006/relationships/image" Target="../media/image15.png"/><Relationship Id="rId4" Type="http://schemas.openxmlformats.org/officeDocument/2006/relationships/image" Target="../media/image8.png"/><Relationship Id="rId5" Type="http://schemas.openxmlformats.org/officeDocument/2006/relationships/image" Target="../media/image16.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5.xml"/><Relationship Id="rId3" Type="http://schemas.openxmlformats.org/officeDocument/2006/relationships/image" Target="../media/image13.png"/><Relationship Id="rId4" Type="http://schemas.openxmlformats.org/officeDocument/2006/relationships/image" Target="../media/image21.png"/><Relationship Id="rId5" Type="http://schemas.openxmlformats.org/officeDocument/2006/relationships/image" Target="../media/image20.png"/><Relationship Id="rId6" Type="http://schemas.openxmlformats.org/officeDocument/2006/relationships/image" Target="../media/image17.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6.xml"/><Relationship Id="rId3" Type="http://schemas.openxmlformats.org/officeDocument/2006/relationships/image" Target="../media/image24.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7.xml"/><Relationship Id="rId3" Type="http://schemas.openxmlformats.org/officeDocument/2006/relationships/image" Target="../media/image28.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8.xml"/><Relationship Id="rId3" Type="http://schemas.openxmlformats.org/officeDocument/2006/relationships/image" Target="../media/image30.png"/><Relationship Id="rId4" Type="http://schemas.openxmlformats.org/officeDocument/2006/relationships/image" Target="../media/image31.png"/><Relationship Id="rId5" Type="http://schemas.openxmlformats.org/officeDocument/2006/relationships/image" Target="../media/image23.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9.xml"/><Relationship Id="rId3" Type="http://schemas.openxmlformats.org/officeDocument/2006/relationships/image" Target="../media/image26.png"/><Relationship Id="rId4" Type="http://schemas.openxmlformats.org/officeDocument/2006/relationships/image" Target="../media/image33.png"/><Relationship Id="rId5" Type="http://schemas.openxmlformats.org/officeDocument/2006/relationships/image" Target="../media/image25.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0.xml"/><Relationship Id="rId3" Type="http://schemas.openxmlformats.org/officeDocument/2006/relationships/image" Target="../media/image27.png"/><Relationship Id="rId4" Type="http://schemas.openxmlformats.org/officeDocument/2006/relationships/image" Target="../media/image32.png"/><Relationship Id="rId5" Type="http://schemas.openxmlformats.org/officeDocument/2006/relationships/image" Target="../media/image29.png"/><Relationship Id="rId6" Type="http://schemas.openxmlformats.org/officeDocument/2006/relationships/image" Target="../media/image34.png"/><Relationship Id="rId7" Type="http://schemas.openxmlformats.org/officeDocument/2006/relationships/image" Target="../media/image25.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GB">
                <a:latin typeface="Helvetica Neue"/>
                <a:ea typeface="Helvetica Neue"/>
                <a:cs typeface="Helvetica Neue"/>
                <a:sym typeface="Helvetica Neue"/>
              </a:rPr>
              <a:t>Team Assignment 1</a:t>
            </a:r>
            <a:endParaRPr>
              <a:latin typeface="Helvetica Neue"/>
              <a:ea typeface="Helvetica Neue"/>
              <a:cs typeface="Helvetica Neue"/>
              <a:sym typeface="Helvetica Neue"/>
            </a:endParaRPr>
          </a:p>
          <a:p>
            <a:pPr indent="0" lvl="0" marL="0" rtl="0" algn="ctr">
              <a:spcBef>
                <a:spcPts val="0"/>
              </a:spcBef>
              <a:spcAft>
                <a:spcPts val="0"/>
              </a:spcAft>
              <a:buNone/>
            </a:pPr>
            <a:r>
              <a:rPr lang="en-GB">
                <a:latin typeface="Helvetica Neue"/>
                <a:ea typeface="Helvetica Neue"/>
                <a:cs typeface="Helvetica Neue"/>
                <a:sym typeface="Helvetica Neue"/>
              </a:rPr>
              <a:t>Data Analytics Tools 1</a:t>
            </a:r>
            <a:endParaRPr>
              <a:latin typeface="Helvetica Neue"/>
              <a:ea typeface="Helvetica Neue"/>
              <a:cs typeface="Helvetica Neue"/>
              <a:sym typeface="Helvetica Neue"/>
            </a:endParaRPr>
          </a:p>
        </p:txBody>
      </p:sp>
      <p:sp>
        <p:nvSpPr>
          <p:cNvPr id="55" name="Google Shape;55;p13"/>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p>
            <a:pPr indent="0" lvl="0" marL="0" rtl="0" algn="ctr">
              <a:lnSpc>
                <a:spcPct val="90000"/>
              </a:lnSpc>
              <a:spcBef>
                <a:spcPts val="0"/>
              </a:spcBef>
              <a:spcAft>
                <a:spcPts val="0"/>
              </a:spcAft>
              <a:buSzPts val="440"/>
              <a:buNone/>
            </a:pPr>
            <a:r>
              <a:rPr lang="en-GB" sz="1180">
                <a:latin typeface="Helvetica Neue"/>
                <a:ea typeface="Helvetica Neue"/>
                <a:cs typeface="Helvetica Neue"/>
                <a:sym typeface="Helvetica Neue"/>
              </a:rPr>
              <a:t>Dawodu Oluwafemi N01691874</a:t>
            </a:r>
            <a:endParaRPr sz="1180">
              <a:latin typeface="Helvetica Neue"/>
              <a:ea typeface="Helvetica Neue"/>
              <a:cs typeface="Helvetica Neue"/>
              <a:sym typeface="Helvetica Neue"/>
            </a:endParaRPr>
          </a:p>
          <a:p>
            <a:pPr indent="0" lvl="0" marL="0" rtl="0" algn="ctr">
              <a:lnSpc>
                <a:spcPct val="90000"/>
              </a:lnSpc>
              <a:spcBef>
                <a:spcPts val="0"/>
              </a:spcBef>
              <a:spcAft>
                <a:spcPts val="0"/>
              </a:spcAft>
              <a:buSzPts val="440"/>
              <a:buNone/>
            </a:pPr>
            <a:r>
              <a:rPr lang="en-GB" sz="1180">
                <a:latin typeface="Helvetica Neue"/>
                <a:ea typeface="Helvetica Neue"/>
                <a:cs typeface="Helvetica Neue"/>
                <a:sym typeface="Helvetica Neue"/>
              </a:rPr>
              <a:t>Rajkumar Ramu N01705840</a:t>
            </a:r>
            <a:endParaRPr sz="1180">
              <a:latin typeface="Helvetica Neue"/>
              <a:ea typeface="Helvetica Neue"/>
              <a:cs typeface="Helvetica Neue"/>
              <a:sym typeface="Helvetica Neue"/>
            </a:endParaRPr>
          </a:p>
          <a:p>
            <a:pPr indent="0" lvl="0" marL="0" rtl="0" algn="ctr">
              <a:lnSpc>
                <a:spcPct val="90000"/>
              </a:lnSpc>
              <a:spcBef>
                <a:spcPts val="0"/>
              </a:spcBef>
              <a:spcAft>
                <a:spcPts val="0"/>
              </a:spcAft>
              <a:buSzPts val="440"/>
              <a:buNone/>
            </a:pPr>
            <a:r>
              <a:rPr lang="en-GB" sz="1180">
                <a:latin typeface="Helvetica Neue"/>
                <a:ea typeface="Helvetica Neue"/>
                <a:cs typeface="Helvetica Neue"/>
                <a:sym typeface="Helvetica Neue"/>
              </a:rPr>
              <a:t>Ismail Ismail N01720388</a:t>
            </a:r>
            <a:endParaRPr sz="1180">
              <a:latin typeface="Helvetica Neue"/>
              <a:ea typeface="Helvetica Neue"/>
              <a:cs typeface="Helvetica Neue"/>
              <a:sym typeface="Helvetica Neue"/>
            </a:endParaRPr>
          </a:p>
          <a:p>
            <a:pPr indent="0" lvl="0" marL="0" rtl="0" algn="ctr">
              <a:lnSpc>
                <a:spcPct val="90000"/>
              </a:lnSpc>
              <a:spcBef>
                <a:spcPts val="0"/>
              </a:spcBef>
              <a:spcAft>
                <a:spcPts val="0"/>
              </a:spcAft>
              <a:buSzPts val="440"/>
              <a:buNone/>
            </a:pPr>
            <a:r>
              <a:rPr lang="en-GB" sz="1180">
                <a:latin typeface="Helvetica Neue"/>
                <a:ea typeface="Helvetica Neue"/>
                <a:cs typeface="Helvetica Neue"/>
                <a:sym typeface="Helvetica Neue"/>
              </a:rPr>
              <a:t>David Lake N01698267</a:t>
            </a:r>
            <a:endParaRPr sz="1180">
              <a:latin typeface="Helvetica Neue"/>
              <a:ea typeface="Helvetica Neue"/>
              <a:cs typeface="Helvetica Neue"/>
              <a:sym typeface="Helvetica Neue"/>
            </a:endParaRPr>
          </a:p>
          <a:p>
            <a:pPr indent="0" lvl="0" marL="0" rtl="0" algn="ctr">
              <a:lnSpc>
                <a:spcPct val="90000"/>
              </a:lnSpc>
              <a:spcBef>
                <a:spcPts val="0"/>
              </a:spcBef>
              <a:spcAft>
                <a:spcPts val="0"/>
              </a:spcAft>
              <a:buSzPts val="440"/>
              <a:buNone/>
            </a:pPr>
            <a:r>
              <a:rPr lang="en-GB" sz="1180">
                <a:latin typeface="Helvetica Neue"/>
                <a:ea typeface="Helvetica Neue"/>
                <a:cs typeface="Helvetica Neue"/>
                <a:sym typeface="Helvetica Neue"/>
              </a:rPr>
              <a:t>Om Dabhane N01710637</a:t>
            </a:r>
            <a:endParaRPr sz="1180">
              <a:latin typeface="Helvetica Neue"/>
              <a:ea typeface="Helvetica Neue"/>
              <a:cs typeface="Helvetica Neue"/>
              <a:sym typeface="Helvetica Neue"/>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 name="Shape 59"/>
        <p:cNvGrpSpPr/>
        <p:nvPr/>
      </p:nvGrpSpPr>
      <p:grpSpPr>
        <a:xfrm>
          <a:off x="0" y="0"/>
          <a:ext cx="0" cy="0"/>
          <a:chOff x="0" y="0"/>
          <a:chExt cx="0" cy="0"/>
        </a:xfrm>
      </p:grpSpPr>
      <p:sp>
        <p:nvSpPr>
          <p:cNvPr id="60" name="Google Shape;60;p14"/>
          <p:cNvSpPr txBox="1"/>
          <p:nvPr/>
        </p:nvSpPr>
        <p:spPr>
          <a:xfrm>
            <a:off x="180525" y="260550"/>
            <a:ext cx="7957500" cy="609600"/>
          </a:xfrm>
          <a:prstGeom prst="rect">
            <a:avLst/>
          </a:prstGeom>
          <a:noFill/>
          <a:ln>
            <a:noFill/>
          </a:ln>
        </p:spPr>
        <p:txBody>
          <a:bodyPr anchorCtr="0" anchor="t" bIns="91425" lIns="91425" spcFirstLastPara="1" rIns="91425" wrap="square" tIns="91425">
            <a:noAutofit/>
          </a:bodyPr>
          <a:lstStyle/>
          <a:p>
            <a:pPr indent="-330200" lvl="0" marL="457200" rtl="0" algn="l">
              <a:spcBef>
                <a:spcPts val="0"/>
              </a:spcBef>
              <a:spcAft>
                <a:spcPts val="0"/>
              </a:spcAft>
              <a:buClr>
                <a:schemeClr val="dk1"/>
              </a:buClr>
              <a:buSzPts val="1600"/>
              <a:buFont typeface="Helvetica Neue"/>
              <a:buAutoNum type="arabicPeriod"/>
            </a:pPr>
            <a:r>
              <a:rPr b="1" lang="en-GB" sz="1600">
                <a:solidFill>
                  <a:schemeClr val="dk1"/>
                </a:solidFill>
                <a:latin typeface="Helvetica Neue"/>
                <a:ea typeface="Helvetica Neue"/>
                <a:cs typeface="Helvetica Neue"/>
                <a:sym typeface="Helvetica Neue"/>
              </a:rPr>
              <a:t>a)  Determine the mean, variance, standard deviation, skew and kurtosis for annual earnings;</a:t>
            </a:r>
            <a:endParaRPr b="1" sz="1600">
              <a:solidFill>
                <a:schemeClr val="dk2"/>
              </a:solidFill>
              <a:latin typeface="Helvetica Neue"/>
              <a:ea typeface="Helvetica Neue"/>
              <a:cs typeface="Helvetica Neue"/>
              <a:sym typeface="Helvetica Neue"/>
            </a:endParaRPr>
          </a:p>
        </p:txBody>
      </p:sp>
      <p:sp>
        <p:nvSpPr>
          <p:cNvPr id="61" name="Google Shape;61;p14"/>
          <p:cNvSpPr txBox="1"/>
          <p:nvPr/>
        </p:nvSpPr>
        <p:spPr>
          <a:xfrm>
            <a:off x="180525" y="948450"/>
            <a:ext cx="1563300" cy="422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GB" sz="1600">
                <a:solidFill>
                  <a:schemeClr val="dk2"/>
                </a:solidFill>
                <a:latin typeface="Helvetica Neue"/>
                <a:ea typeface="Helvetica Neue"/>
                <a:cs typeface="Helvetica Neue"/>
                <a:sym typeface="Helvetica Neue"/>
              </a:rPr>
              <a:t>The process;</a:t>
            </a:r>
            <a:endParaRPr b="1" sz="1600">
              <a:solidFill>
                <a:schemeClr val="dk2"/>
              </a:solidFill>
              <a:latin typeface="Helvetica Neue"/>
              <a:ea typeface="Helvetica Neue"/>
              <a:cs typeface="Helvetica Neue"/>
              <a:sym typeface="Helvetica Neue"/>
            </a:endParaRPr>
          </a:p>
        </p:txBody>
      </p:sp>
      <p:sp>
        <p:nvSpPr>
          <p:cNvPr id="62" name="Google Shape;62;p14"/>
          <p:cNvSpPr txBox="1"/>
          <p:nvPr/>
        </p:nvSpPr>
        <p:spPr>
          <a:xfrm>
            <a:off x="7348925" y="1912025"/>
            <a:ext cx="1563300" cy="1797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i="1" lang="en-GB">
                <a:solidFill>
                  <a:schemeClr val="dk2"/>
                </a:solidFill>
                <a:latin typeface="Helvetica Neue"/>
                <a:ea typeface="Helvetica Neue"/>
                <a:cs typeface="Helvetica Neue"/>
                <a:sym typeface="Helvetica Neue"/>
              </a:rPr>
              <a:t>Open the SPSS file saved as </a:t>
            </a:r>
            <a:endParaRPr b="1" i="1">
              <a:solidFill>
                <a:schemeClr val="dk2"/>
              </a:solidFill>
              <a:latin typeface="Helvetica Neue"/>
              <a:ea typeface="Helvetica Neue"/>
              <a:cs typeface="Helvetica Neue"/>
              <a:sym typeface="Helvetica Neue"/>
            </a:endParaRPr>
          </a:p>
          <a:p>
            <a:pPr indent="0" lvl="0" marL="0" rtl="0" algn="l">
              <a:spcBef>
                <a:spcPts val="0"/>
              </a:spcBef>
              <a:spcAft>
                <a:spcPts val="0"/>
              </a:spcAft>
              <a:buNone/>
            </a:pPr>
            <a:r>
              <a:rPr b="1" i="1" lang="en-GB">
                <a:solidFill>
                  <a:schemeClr val="dk2"/>
                </a:solidFill>
                <a:latin typeface="Helvetica Neue"/>
                <a:ea typeface="Helvetica Neue"/>
                <a:cs typeface="Helvetica Neue"/>
                <a:sym typeface="Helvetica Neue"/>
              </a:rPr>
              <a:t>UsWorkers.sav and follow the steps as displayed in the image</a:t>
            </a:r>
            <a:endParaRPr b="1" i="1">
              <a:solidFill>
                <a:schemeClr val="dk2"/>
              </a:solidFill>
              <a:latin typeface="Helvetica Neue"/>
              <a:ea typeface="Helvetica Neue"/>
              <a:cs typeface="Helvetica Neue"/>
              <a:sym typeface="Helvetica Neue"/>
            </a:endParaRPr>
          </a:p>
        </p:txBody>
      </p:sp>
      <p:pic>
        <p:nvPicPr>
          <p:cNvPr id="63" name="Google Shape;63;p14"/>
          <p:cNvPicPr preferRelativeResize="0"/>
          <p:nvPr/>
        </p:nvPicPr>
        <p:blipFill>
          <a:blip r:embed="rId3">
            <a:alphaModFix/>
          </a:blip>
          <a:stretch>
            <a:fillRect/>
          </a:stretch>
        </p:blipFill>
        <p:spPr>
          <a:xfrm>
            <a:off x="152400" y="1522950"/>
            <a:ext cx="6637850" cy="346815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 name="Shape 67"/>
        <p:cNvGrpSpPr/>
        <p:nvPr/>
      </p:nvGrpSpPr>
      <p:grpSpPr>
        <a:xfrm>
          <a:off x="0" y="0"/>
          <a:ext cx="0" cy="0"/>
          <a:chOff x="0" y="0"/>
          <a:chExt cx="0" cy="0"/>
        </a:xfrm>
      </p:grpSpPr>
      <p:sp>
        <p:nvSpPr>
          <p:cNvPr id="68" name="Google Shape;68;p15"/>
          <p:cNvSpPr txBox="1"/>
          <p:nvPr/>
        </p:nvSpPr>
        <p:spPr>
          <a:xfrm>
            <a:off x="225775" y="186975"/>
            <a:ext cx="2968800" cy="381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GB" sz="1600">
                <a:solidFill>
                  <a:schemeClr val="dk2"/>
                </a:solidFill>
                <a:latin typeface="Helvetica Neue"/>
                <a:ea typeface="Helvetica Neue"/>
                <a:cs typeface="Helvetica Neue"/>
                <a:sym typeface="Helvetica Neue"/>
              </a:rPr>
              <a:t>The output and the insights;</a:t>
            </a:r>
            <a:endParaRPr b="1" sz="1600">
              <a:solidFill>
                <a:schemeClr val="dk2"/>
              </a:solidFill>
              <a:latin typeface="Helvetica Neue"/>
              <a:ea typeface="Helvetica Neue"/>
              <a:cs typeface="Helvetica Neue"/>
              <a:sym typeface="Helvetica Neue"/>
            </a:endParaRPr>
          </a:p>
        </p:txBody>
      </p:sp>
      <p:pic>
        <p:nvPicPr>
          <p:cNvPr id="69" name="Google Shape;69;p15"/>
          <p:cNvPicPr preferRelativeResize="0"/>
          <p:nvPr/>
        </p:nvPicPr>
        <p:blipFill>
          <a:blip r:embed="rId3">
            <a:alphaModFix/>
          </a:blip>
          <a:stretch>
            <a:fillRect/>
          </a:stretch>
        </p:blipFill>
        <p:spPr>
          <a:xfrm>
            <a:off x="152400" y="720375"/>
            <a:ext cx="8518651" cy="2055300"/>
          </a:xfrm>
          <a:prstGeom prst="rect">
            <a:avLst/>
          </a:prstGeom>
          <a:noFill/>
          <a:ln>
            <a:noFill/>
          </a:ln>
        </p:spPr>
      </p:pic>
      <p:sp>
        <p:nvSpPr>
          <p:cNvPr id="70" name="Google Shape;70;p15"/>
          <p:cNvSpPr txBox="1"/>
          <p:nvPr/>
        </p:nvSpPr>
        <p:spPr>
          <a:xfrm>
            <a:off x="348150" y="2775675"/>
            <a:ext cx="8322900" cy="1784100"/>
          </a:xfrm>
          <a:prstGeom prst="rect">
            <a:avLst/>
          </a:prstGeom>
          <a:noFill/>
          <a:ln>
            <a:noFill/>
          </a:ln>
        </p:spPr>
        <p:txBody>
          <a:bodyPr anchorCtr="0" anchor="t" bIns="91425" lIns="91425" spcFirstLastPara="1" rIns="91425" wrap="square" tIns="91425">
            <a:noAutofit/>
          </a:bodyPr>
          <a:lstStyle/>
          <a:p>
            <a:pPr indent="-330200" lvl="0" marL="457200" rtl="0" algn="l">
              <a:lnSpc>
                <a:spcPct val="105000"/>
              </a:lnSpc>
              <a:spcBef>
                <a:spcPts val="1200"/>
              </a:spcBef>
              <a:spcAft>
                <a:spcPts val="0"/>
              </a:spcAft>
              <a:buClr>
                <a:schemeClr val="dk2"/>
              </a:buClr>
              <a:buSzPts val="1600"/>
              <a:buFont typeface="Helvetica Neue"/>
              <a:buChar char="●"/>
            </a:pPr>
            <a:r>
              <a:rPr b="1" lang="en-GB" sz="1600">
                <a:solidFill>
                  <a:schemeClr val="dk1"/>
                </a:solidFill>
                <a:highlight>
                  <a:schemeClr val="lt1"/>
                </a:highlight>
                <a:latin typeface="Helvetica Neue"/>
                <a:ea typeface="Helvetica Neue"/>
                <a:cs typeface="Helvetica Neue"/>
                <a:sym typeface="Helvetica Neue"/>
              </a:rPr>
              <a:t>From the output table we can confirm that there are 2050 cases with 0 missing values indicating a perfect sample size for analysis .</a:t>
            </a:r>
            <a:r>
              <a:rPr b="1" lang="en-GB" sz="1600">
                <a:solidFill>
                  <a:schemeClr val="dk2"/>
                </a:solidFill>
                <a:latin typeface="Helvetica Neue"/>
                <a:ea typeface="Helvetica Neue"/>
                <a:cs typeface="Helvetica Neue"/>
                <a:sym typeface="Helvetica Neue"/>
              </a:rPr>
              <a:t>												</a:t>
            </a:r>
            <a:endParaRPr b="1" sz="1600">
              <a:solidFill>
                <a:schemeClr val="dk2"/>
              </a:solidFill>
              <a:latin typeface="Helvetica Neue"/>
              <a:ea typeface="Helvetica Neue"/>
              <a:cs typeface="Helvetica Neue"/>
              <a:sym typeface="Helvetica Neue"/>
            </a:endParaRPr>
          </a:p>
          <a:p>
            <a:pPr indent="-330200" lvl="0" marL="457200" rtl="0" algn="l">
              <a:lnSpc>
                <a:spcPct val="105000"/>
              </a:lnSpc>
              <a:spcBef>
                <a:spcPts val="0"/>
              </a:spcBef>
              <a:spcAft>
                <a:spcPts val="0"/>
              </a:spcAft>
              <a:buClr>
                <a:schemeClr val="dk1"/>
              </a:buClr>
              <a:buSzPts val="1600"/>
              <a:buFont typeface="Helvetica Neue"/>
              <a:buChar char="●"/>
            </a:pPr>
            <a:r>
              <a:rPr b="1" lang="en-GB" sz="1600">
                <a:latin typeface="Helvetica Neue"/>
                <a:ea typeface="Helvetica Neue"/>
                <a:cs typeface="Helvetica Neue"/>
                <a:sym typeface="Helvetica Neue"/>
              </a:rPr>
              <a:t>The extremely high skewness and kurtosis suggest that the earnings distribution has significant outliers, likely due to a few individuals earning disproportionately high salaries.</a:t>
            </a:r>
            <a:r>
              <a:rPr b="1" lang="en-GB" sz="1600">
                <a:latin typeface="Helvetica Neue"/>
                <a:ea typeface="Helvetica Neue"/>
                <a:cs typeface="Helvetica Neue"/>
                <a:sym typeface="Helvetica Neue"/>
              </a:rPr>
              <a:t> </a:t>
            </a:r>
            <a:endParaRPr b="1" sz="1600">
              <a:latin typeface="Helvetica Neue"/>
              <a:ea typeface="Helvetica Neue"/>
              <a:cs typeface="Helvetica Neue"/>
              <a:sym typeface="Helvetica Neue"/>
            </a:endParaRPr>
          </a:p>
          <a:p>
            <a:pPr indent="0" lvl="0" marL="0" rtl="0" algn="l">
              <a:lnSpc>
                <a:spcPct val="105000"/>
              </a:lnSpc>
              <a:spcBef>
                <a:spcPts val="1200"/>
              </a:spcBef>
              <a:spcAft>
                <a:spcPts val="1200"/>
              </a:spcAft>
              <a:buSzPts val="605"/>
              <a:buNone/>
            </a:pPr>
            <a:r>
              <a:t/>
            </a:r>
            <a:endParaRPr sz="1600">
              <a:latin typeface="Helvetica Neue"/>
              <a:ea typeface="Helvetica Neue"/>
              <a:cs typeface="Helvetica Neue"/>
              <a:sym typeface="Helvetica Neue"/>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 name="Shape 74"/>
        <p:cNvGrpSpPr/>
        <p:nvPr/>
      </p:nvGrpSpPr>
      <p:grpSpPr>
        <a:xfrm>
          <a:off x="0" y="0"/>
          <a:ext cx="0" cy="0"/>
          <a:chOff x="0" y="0"/>
          <a:chExt cx="0" cy="0"/>
        </a:xfrm>
      </p:grpSpPr>
      <p:sp>
        <p:nvSpPr>
          <p:cNvPr id="75" name="Google Shape;75;p16"/>
          <p:cNvSpPr txBox="1"/>
          <p:nvPr/>
        </p:nvSpPr>
        <p:spPr>
          <a:xfrm>
            <a:off x="234900" y="134850"/>
            <a:ext cx="8674200" cy="7143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n-GB" sz="1600">
                <a:solidFill>
                  <a:schemeClr val="dk1"/>
                </a:solidFill>
                <a:highlight>
                  <a:srgbClr val="FFFFFF"/>
                </a:highlight>
                <a:latin typeface="Helvetica Neue"/>
                <a:ea typeface="Helvetica Neue"/>
                <a:cs typeface="Helvetica Neue"/>
                <a:sym typeface="Helvetica Neue"/>
              </a:rPr>
              <a:t>(b) Determining the average annual earnings of workers for each level of education.</a:t>
            </a:r>
            <a:endParaRPr b="1" sz="1600">
              <a:solidFill>
                <a:schemeClr val="dk1"/>
              </a:solidFill>
              <a:highlight>
                <a:srgbClr val="FFFFFF"/>
              </a:highlight>
              <a:latin typeface="Helvetica Neue"/>
              <a:ea typeface="Helvetica Neue"/>
              <a:cs typeface="Helvetica Neue"/>
              <a:sym typeface="Helvetica Neue"/>
            </a:endParaRPr>
          </a:p>
          <a:p>
            <a:pPr indent="0" lvl="0" marL="0" rtl="0" algn="l">
              <a:spcBef>
                <a:spcPts val="0"/>
              </a:spcBef>
              <a:spcAft>
                <a:spcPts val="0"/>
              </a:spcAft>
              <a:buNone/>
            </a:pPr>
            <a:r>
              <a:t/>
            </a:r>
            <a:endParaRPr sz="1600">
              <a:solidFill>
                <a:schemeClr val="dk2"/>
              </a:solidFill>
              <a:latin typeface="Helvetica Neue"/>
              <a:ea typeface="Helvetica Neue"/>
              <a:cs typeface="Helvetica Neue"/>
              <a:sym typeface="Helvetica Neue"/>
            </a:endParaRPr>
          </a:p>
        </p:txBody>
      </p:sp>
      <p:sp>
        <p:nvSpPr>
          <p:cNvPr id="76" name="Google Shape;76;p16"/>
          <p:cNvSpPr txBox="1"/>
          <p:nvPr/>
        </p:nvSpPr>
        <p:spPr>
          <a:xfrm>
            <a:off x="2383625" y="1863850"/>
            <a:ext cx="6263400" cy="647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Clr>
                <a:schemeClr val="dk1"/>
              </a:buClr>
              <a:buSzPts val="1100"/>
              <a:buFont typeface="Arial"/>
              <a:buNone/>
            </a:pPr>
            <a:r>
              <a:t/>
            </a:r>
            <a:endParaRPr sz="1050">
              <a:solidFill>
                <a:schemeClr val="dk1"/>
              </a:solidFill>
              <a:highlight>
                <a:srgbClr val="FFFFFF"/>
              </a:highlight>
            </a:endParaRPr>
          </a:p>
          <a:p>
            <a:pPr indent="0" lvl="0" marL="0" rtl="0" algn="l">
              <a:spcBef>
                <a:spcPts val="0"/>
              </a:spcBef>
              <a:spcAft>
                <a:spcPts val="0"/>
              </a:spcAft>
              <a:buNone/>
            </a:pPr>
            <a:r>
              <a:t/>
            </a:r>
            <a:endParaRPr sz="1800">
              <a:solidFill>
                <a:schemeClr val="dk2"/>
              </a:solidFill>
            </a:endParaRPr>
          </a:p>
        </p:txBody>
      </p:sp>
      <p:sp>
        <p:nvSpPr>
          <p:cNvPr id="77" name="Google Shape;77;p16"/>
          <p:cNvSpPr txBox="1"/>
          <p:nvPr/>
        </p:nvSpPr>
        <p:spPr>
          <a:xfrm>
            <a:off x="578500" y="754675"/>
            <a:ext cx="62634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800">
              <a:solidFill>
                <a:schemeClr val="dk2"/>
              </a:solidFill>
            </a:endParaRPr>
          </a:p>
        </p:txBody>
      </p:sp>
      <p:sp>
        <p:nvSpPr>
          <p:cNvPr id="78" name="Google Shape;78;p16"/>
          <p:cNvSpPr txBox="1"/>
          <p:nvPr/>
        </p:nvSpPr>
        <p:spPr>
          <a:xfrm>
            <a:off x="234900" y="547025"/>
            <a:ext cx="1451700" cy="387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GB" sz="1600">
                <a:solidFill>
                  <a:schemeClr val="dk2"/>
                </a:solidFill>
                <a:latin typeface="Helvetica Neue"/>
                <a:ea typeface="Helvetica Neue"/>
                <a:cs typeface="Helvetica Neue"/>
                <a:sym typeface="Helvetica Neue"/>
              </a:rPr>
              <a:t>The process;</a:t>
            </a:r>
            <a:endParaRPr b="1" sz="1600">
              <a:solidFill>
                <a:schemeClr val="dk2"/>
              </a:solidFill>
              <a:latin typeface="Helvetica Neue"/>
              <a:ea typeface="Helvetica Neue"/>
              <a:cs typeface="Helvetica Neue"/>
              <a:sym typeface="Helvetica Neue"/>
            </a:endParaRPr>
          </a:p>
        </p:txBody>
      </p:sp>
      <p:pic>
        <p:nvPicPr>
          <p:cNvPr id="79" name="Google Shape;79;p16" title="Screenshot 2025-03-19 185934.png"/>
          <p:cNvPicPr preferRelativeResize="0"/>
          <p:nvPr/>
        </p:nvPicPr>
        <p:blipFill>
          <a:blip r:embed="rId3">
            <a:alphaModFix/>
          </a:blip>
          <a:stretch>
            <a:fillRect/>
          </a:stretch>
        </p:blipFill>
        <p:spPr>
          <a:xfrm>
            <a:off x="187050" y="934025"/>
            <a:ext cx="6481025" cy="4094300"/>
          </a:xfrm>
          <a:prstGeom prst="rect">
            <a:avLst/>
          </a:prstGeom>
          <a:noFill/>
          <a:ln>
            <a:noFill/>
          </a:ln>
        </p:spPr>
      </p:pic>
      <p:sp>
        <p:nvSpPr>
          <p:cNvPr id="80" name="Google Shape;80;p16"/>
          <p:cNvSpPr txBox="1"/>
          <p:nvPr/>
        </p:nvSpPr>
        <p:spPr>
          <a:xfrm>
            <a:off x="6983425" y="1037400"/>
            <a:ext cx="1827000" cy="1631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i="1" lang="en-GB">
                <a:solidFill>
                  <a:schemeClr val="dk2"/>
                </a:solidFill>
                <a:latin typeface="Helvetica Neue"/>
                <a:ea typeface="Helvetica Neue"/>
                <a:cs typeface="Helvetica Neue"/>
                <a:sym typeface="Helvetica Neue"/>
              </a:rPr>
              <a:t>Open the SPSS file saved as </a:t>
            </a:r>
            <a:endParaRPr b="1" i="1">
              <a:solidFill>
                <a:schemeClr val="dk2"/>
              </a:solidFill>
              <a:latin typeface="Helvetica Neue"/>
              <a:ea typeface="Helvetica Neue"/>
              <a:cs typeface="Helvetica Neue"/>
              <a:sym typeface="Helvetica Neue"/>
            </a:endParaRPr>
          </a:p>
          <a:p>
            <a:pPr indent="0" lvl="0" marL="0" rtl="0" algn="l">
              <a:spcBef>
                <a:spcPts val="0"/>
              </a:spcBef>
              <a:spcAft>
                <a:spcPts val="0"/>
              </a:spcAft>
              <a:buNone/>
            </a:pPr>
            <a:r>
              <a:rPr b="1" i="1" lang="en-GB">
                <a:solidFill>
                  <a:schemeClr val="dk2"/>
                </a:solidFill>
                <a:latin typeface="Helvetica Neue"/>
                <a:ea typeface="Helvetica Neue"/>
                <a:cs typeface="Helvetica Neue"/>
                <a:sym typeface="Helvetica Neue"/>
              </a:rPr>
              <a:t>UsWorkers.sav and follow the steps as displayed in the image</a:t>
            </a:r>
            <a:endParaRPr b="1" i="1">
              <a:solidFill>
                <a:schemeClr val="dk2"/>
              </a:solidFill>
              <a:latin typeface="Helvetica Neue"/>
              <a:ea typeface="Helvetica Neue"/>
              <a:cs typeface="Helvetica Neue"/>
              <a:sym typeface="Helvetica Neue"/>
            </a:endParaRPr>
          </a:p>
          <a:p>
            <a:pPr indent="0" lvl="0" marL="0" rtl="0" algn="l">
              <a:spcBef>
                <a:spcPts val="0"/>
              </a:spcBef>
              <a:spcAft>
                <a:spcPts val="0"/>
              </a:spcAft>
              <a:buNone/>
            </a:pPr>
            <a:r>
              <a:t/>
            </a:r>
            <a:endParaRPr>
              <a:solidFill>
                <a:schemeClr val="dk2"/>
              </a:solidFill>
              <a:latin typeface="Helvetica Neue"/>
              <a:ea typeface="Helvetica Neue"/>
              <a:cs typeface="Helvetica Neue"/>
              <a:sym typeface="Helvetica Neue"/>
            </a:endParaRPr>
          </a:p>
        </p:txBody>
      </p:sp>
      <p:sp>
        <p:nvSpPr>
          <p:cNvPr id="81" name="Google Shape;81;p16"/>
          <p:cNvSpPr txBox="1"/>
          <p:nvPr/>
        </p:nvSpPr>
        <p:spPr>
          <a:xfrm>
            <a:off x="6995100" y="2834850"/>
            <a:ext cx="1914000" cy="2193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GB">
                <a:solidFill>
                  <a:schemeClr val="dk2"/>
                </a:solidFill>
                <a:latin typeface="Helvetica Neue"/>
                <a:ea typeface="Helvetica Neue"/>
                <a:cs typeface="Helvetica Neue"/>
                <a:sym typeface="Helvetica Neue"/>
              </a:rPr>
              <a:t>In the 2nd step we start from splitting the file as we only need to compare the 2 Variables. We drag the needed variables as shown in the practical images.</a:t>
            </a:r>
            <a:endParaRPr b="1">
              <a:solidFill>
                <a:schemeClr val="dk2"/>
              </a:solidFill>
              <a:latin typeface="Helvetica Neue"/>
              <a:ea typeface="Helvetica Neue"/>
              <a:cs typeface="Helvetica Neue"/>
              <a:sym typeface="Helvetica Neue"/>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 name="Shape 85"/>
        <p:cNvGrpSpPr/>
        <p:nvPr/>
      </p:nvGrpSpPr>
      <p:grpSpPr>
        <a:xfrm>
          <a:off x="0" y="0"/>
          <a:ext cx="0" cy="0"/>
          <a:chOff x="0" y="0"/>
          <a:chExt cx="0" cy="0"/>
        </a:xfrm>
      </p:grpSpPr>
      <p:sp>
        <p:nvSpPr>
          <p:cNvPr id="86" name="Google Shape;86;p17"/>
          <p:cNvSpPr txBox="1"/>
          <p:nvPr/>
        </p:nvSpPr>
        <p:spPr>
          <a:xfrm>
            <a:off x="600250" y="297950"/>
            <a:ext cx="62634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b="1" sz="1800">
              <a:solidFill>
                <a:schemeClr val="dk2"/>
              </a:solidFill>
            </a:endParaRPr>
          </a:p>
        </p:txBody>
      </p:sp>
      <p:sp>
        <p:nvSpPr>
          <p:cNvPr id="87" name="Google Shape;87;p17"/>
          <p:cNvSpPr txBox="1"/>
          <p:nvPr/>
        </p:nvSpPr>
        <p:spPr>
          <a:xfrm>
            <a:off x="140700" y="113100"/>
            <a:ext cx="29601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1600">
                <a:solidFill>
                  <a:schemeClr val="dk2"/>
                </a:solidFill>
                <a:latin typeface="Helvetica Neue"/>
                <a:ea typeface="Helvetica Neue"/>
                <a:cs typeface="Helvetica Neue"/>
                <a:sym typeface="Helvetica Neue"/>
              </a:rPr>
              <a:t>The output and the insights;</a:t>
            </a:r>
            <a:endParaRPr b="1" sz="1600">
              <a:solidFill>
                <a:schemeClr val="dk2"/>
              </a:solidFill>
              <a:latin typeface="Helvetica Neue"/>
              <a:ea typeface="Helvetica Neue"/>
              <a:cs typeface="Helvetica Neue"/>
              <a:sym typeface="Helvetica Neue"/>
            </a:endParaRPr>
          </a:p>
        </p:txBody>
      </p:sp>
      <p:sp>
        <p:nvSpPr>
          <p:cNvPr id="88" name="Google Shape;88;p17"/>
          <p:cNvSpPr txBox="1"/>
          <p:nvPr/>
        </p:nvSpPr>
        <p:spPr>
          <a:xfrm>
            <a:off x="140700" y="3935025"/>
            <a:ext cx="8862600" cy="1108200"/>
          </a:xfrm>
          <a:prstGeom prst="rect">
            <a:avLst/>
          </a:prstGeom>
          <a:noFill/>
          <a:ln>
            <a:noFill/>
          </a:ln>
        </p:spPr>
        <p:txBody>
          <a:bodyPr anchorCtr="0" anchor="t" bIns="91425" lIns="91425" spcFirstLastPara="1" rIns="91425" wrap="square" tIns="91425">
            <a:spAutoFit/>
          </a:bodyPr>
          <a:lstStyle/>
          <a:p>
            <a:pPr indent="-304800" lvl="0" marL="457200" rtl="0" algn="l">
              <a:spcBef>
                <a:spcPts val="0"/>
              </a:spcBef>
              <a:spcAft>
                <a:spcPts val="0"/>
              </a:spcAft>
              <a:buSzPts val="1200"/>
              <a:buAutoNum type="arabicPeriod"/>
            </a:pPr>
            <a:r>
              <a:rPr b="1" lang="en-GB" sz="1200">
                <a:solidFill>
                  <a:schemeClr val="dk1"/>
                </a:solidFill>
              </a:rPr>
              <a:t>Sample size is 2,050 workers, with no missing data (0 cases excluded) and it ensures perfect </a:t>
            </a:r>
            <a:r>
              <a:rPr b="1" lang="en-GB" sz="1200">
                <a:solidFill>
                  <a:schemeClr val="dk1"/>
                </a:solidFill>
              </a:rPr>
              <a:t>sampling size for analysis.</a:t>
            </a:r>
            <a:endParaRPr b="1" sz="700">
              <a:solidFill>
                <a:schemeClr val="dk1"/>
              </a:solidFill>
            </a:endParaRPr>
          </a:p>
          <a:p>
            <a:pPr indent="-304800" lvl="0" marL="457200" rtl="0" algn="l">
              <a:spcBef>
                <a:spcPts val="0"/>
              </a:spcBef>
              <a:spcAft>
                <a:spcPts val="0"/>
              </a:spcAft>
              <a:buClr>
                <a:schemeClr val="dk1"/>
              </a:buClr>
              <a:buSzPts val="1200"/>
              <a:buAutoNum type="arabicPeriod"/>
            </a:pPr>
            <a:r>
              <a:rPr b="1" lang="en-GB" sz="1200">
                <a:solidFill>
                  <a:schemeClr val="dk1"/>
                </a:solidFill>
              </a:rPr>
              <a:t>Higher education levels generally lead to higher averages in annual income of the workers.</a:t>
            </a:r>
            <a:endParaRPr b="1" sz="1200">
              <a:solidFill>
                <a:schemeClr val="dk1"/>
              </a:solidFill>
            </a:endParaRPr>
          </a:p>
          <a:p>
            <a:pPr indent="-304800" lvl="0" marL="457200" rtl="0" algn="l">
              <a:spcBef>
                <a:spcPts val="0"/>
              </a:spcBef>
              <a:spcAft>
                <a:spcPts val="0"/>
              </a:spcAft>
              <a:buClr>
                <a:schemeClr val="dk1"/>
              </a:buClr>
              <a:buSzPts val="1200"/>
              <a:buAutoNum type="arabicPeriod"/>
            </a:pPr>
            <a:r>
              <a:rPr b="1" lang="en-GB" sz="1200">
                <a:solidFill>
                  <a:schemeClr val="dk1"/>
                </a:solidFill>
              </a:rPr>
              <a:t>There is significant variation in earnings, especially at higher education levels, as indicated by large standard deviations.</a:t>
            </a:r>
            <a:endParaRPr b="1" sz="1200">
              <a:solidFill>
                <a:schemeClr val="dk1"/>
              </a:solidFill>
            </a:endParaRPr>
          </a:p>
        </p:txBody>
      </p:sp>
      <p:pic>
        <p:nvPicPr>
          <p:cNvPr id="89" name="Google Shape;89;p17" title="Screenshot 2025-03-19 190920.png"/>
          <p:cNvPicPr preferRelativeResize="0"/>
          <p:nvPr/>
        </p:nvPicPr>
        <p:blipFill>
          <a:blip r:embed="rId3">
            <a:alphaModFix/>
          </a:blip>
          <a:stretch>
            <a:fillRect/>
          </a:stretch>
        </p:blipFill>
        <p:spPr>
          <a:xfrm>
            <a:off x="1285325" y="533400"/>
            <a:ext cx="5817700" cy="325280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 name="Shape 93"/>
        <p:cNvGrpSpPr/>
        <p:nvPr/>
      </p:nvGrpSpPr>
      <p:grpSpPr>
        <a:xfrm>
          <a:off x="0" y="0"/>
          <a:ext cx="0" cy="0"/>
          <a:chOff x="0" y="0"/>
          <a:chExt cx="0" cy="0"/>
        </a:xfrm>
      </p:grpSpPr>
      <p:sp>
        <p:nvSpPr>
          <p:cNvPr id="94" name="Google Shape;94;p18"/>
          <p:cNvSpPr txBox="1"/>
          <p:nvPr/>
        </p:nvSpPr>
        <p:spPr>
          <a:xfrm>
            <a:off x="108925" y="69600"/>
            <a:ext cx="62634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1600">
                <a:solidFill>
                  <a:schemeClr val="dk2"/>
                </a:solidFill>
                <a:latin typeface="Helvetica Neue"/>
                <a:ea typeface="Helvetica Neue"/>
                <a:cs typeface="Helvetica Neue"/>
                <a:sym typeface="Helvetica Neue"/>
              </a:rPr>
              <a:t>Plotting a Simple Bar Graph;</a:t>
            </a:r>
            <a:endParaRPr b="1" sz="1600">
              <a:solidFill>
                <a:schemeClr val="dk2"/>
              </a:solidFill>
              <a:latin typeface="Helvetica Neue"/>
              <a:ea typeface="Helvetica Neue"/>
              <a:cs typeface="Helvetica Neue"/>
              <a:sym typeface="Helvetica Neue"/>
            </a:endParaRPr>
          </a:p>
        </p:txBody>
      </p:sp>
      <p:pic>
        <p:nvPicPr>
          <p:cNvPr id="95" name="Google Shape;95;p18" title="Screenshot 2025-03-19 193120.png"/>
          <p:cNvPicPr preferRelativeResize="0"/>
          <p:nvPr/>
        </p:nvPicPr>
        <p:blipFill>
          <a:blip r:embed="rId3">
            <a:alphaModFix/>
          </a:blip>
          <a:stretch>
            <a:fillRect/>
          </a:stretch>
        </p:blipFill>
        <p:spPr>
          <a:xfrm>
            <a:off x="31750" y="885875"/>
            <a:ext cx="6493100" cy="3065800"/>
          </a:xfrm>
          <a:prstGeom prst="rect">
            <a:avLst/>
          </a:prstGeom>
          <a:noFill/>
          <a:ln>
            <a:noFill/>
          </a:ln>
        </p:spPr>
      </p:pic>
      <p:sp>
        <p:nvSpPr>
          <p:cNvPr id="96" name="Google Shape;96;p18"/>
          <p:cNvSpPr txBox="1"/>
          <p:nvPr/>
        </p:nvSpPr>
        <p:spPr>
          <a:xfrm>
            <a:off x="6372325" y="618825"/>
            <a:ext cx="2490000" cy="1788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2"/>
              </a:solidFill>
              <a:latin typeface="Helvetica Neue"/>
              <a:ea typeface="Helvetica Neue"/>
              <a:cs typeface="Helvetica Neue"/>
              <a:sym typeface="Helvetica Neue"/>
            </a:endParaRPr>
          </a:p>
        </p:txBody>
      </p:sp>
      <p:sp>
        <p:nvSpPr>
          <p:cNvPr id="97" name="Google Shape;97;p18"/>
          <p:cNvSpPr txBox="1"/>
          <p:nvPr/>
        </p:nvSpPr>
        <p:spPr>
          <a:xfrm>
            <a:off x="6524850" y="1178775"/>
            <a:ext cx="2412000" cy="2986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Clr>
                <a:schemeClr val="dk1"/>
              </a:buClr>
              <a:buSzPts val="1100"/>
              <a:buFont typeface="Arial"/>
              <a:buNone/>
            </a:pPr>
            <a:r>
              <a:rPr b="1" lang="en-GB">
                <a:solidFill>
                  <a:schemeClr val="dk2"/>
                </a:solidFill>
                <a:latin typeface="Helvetica Neue"/>
                <a:ea typeface="Helvetica Neue"/>
                <a:cs typeface="Helvetica Neue"/>
                <a:sym typeface="Helvetica Neue"/>
              </a:rPr>
              <a:t>First we un - split the data in the same way we split the data in the above practical. Then we move on accordingly as shown and choose a simple bar graph by dragging it in the preview box and dragging the needed variables in X - axis and Y - Axis as needed and plot the Graph.</a:t>
            </a:r>
            <a:endParaRPr b="1">
              <a:solidFill>
                <a:schemeClr val="dk2"/>
              </a:solidFill>
              <a:latin typeface="Helvetica Neue"/>
              <a:ea typeface="Helvetica Neue"/>
              <a:cs typeface="Helvetica Neue"/>
              <a:sym typeface="Helvetica Neue"/>
            </a:endParaRPr>
          </a:p>
          <a:p>
            <a:pPr indent="0" lvl="0" marL="0" rtl="0" algn="l">
              <a:spcBef>
                <a:spcPts val="0"/>
              </a:spcBef>
              <a:spcAft>
                <a:spcPts val="0"/>
              </a:spcAft>
              <a:buNone/>
            </a:pPr>
            <a:r>
              <a:t/>
            </a:r>
            <a:endParaRPr b="1">
              <a:solidFill>
                <a:schemeClr val="dk2"/>
              </a:solidFill>
              <a:latin typeface="Helvetica Neue"/>
              <a:ea typeface="Helvetica Neue"/>
              <a:cs typeface="Helvetica Neue"/>
              <a:sym typeface="Helvetica Neue"/>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 name="Shape 101"/>
        <p:cNvGrpSpPr/>
        <p:nvPr/>
      </p:nvGrpSpPr>
      <p:grpSpPr>
        <a:xfrm>
          <a:off x="0" y="0"/>
          <a:ext cx="0" cy="0"/>
          <a:chOff x="0" y="0"/>
          <a:chExt cx="0" cy="0"/>
        </a:xfrm>
      </p:grpSpPr>
      <p:sp>
        <p:nvSpPr>
          <p:cNvPr id="102" name="Google Shape;102;p19"/>
          <p:cNvSpPr txBox="1"/>
          <p:nvPr/>
        </p:nvSpPr>
        <p:spPr>
          <a:xfrm>
            <a:off x="152400" y="80475"/>
            <a:ext cx="62634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1600">
                <a:solidFill>
                  <a:schemeClr val="dk2"/>
                </a:solidFill>
                <a:latin typeface="Helvetica Neue"/>
                <a:ea typeface="Helvetica Neue"/>
                <a:cs typeface="Helvetica Neue"/>
                <a:sym typeface="Helvetica Neue"/>
              </a:rPr>
              <a:t>The output;</a:t>
            </a:r>
            <a:endParaRPr b="1" sz="1600">
              <a:solidFill>
                <a:schemeClr val="dk2"/>
              </a:solidFill>
              <a:latin typeface="Helvetica Neue"/>
              <a:ea typeface="Helvetica Neue"/>
              <a:cs typeface="Helvetica Neue"/>
              <a:sym typeface="Helvetica Neue"/>
            </a:endParaRPr>
          </a:p>
        </p:txBody>
      </p:sp>
      <p:pic>
        <p:nvPicPr>
          <p:cNvPr id="103" name="Google Shape;103;p19" title="Screenshot 2025-03-19 192310.png"/>
          <p:cNvPicPr preferRelativeResize="0"/>
          <p:nvPr/>
        </p:nvPicPr>
        <p:blipFill>
          <a:blip r:embed="rId3">
            <a:alphaModFix/>
          </a:blip>
          <a:stretch>
            <a:fillRect/>
          </a:stretch>
        </p:blipFill>
        <p:spPr>
          <a:xfrm>
            <a:off x="84025" y="542175"/>
            <a:ext cx="6877919" cy="4448926"/>
          </a:xfrm>
          <a:prstGeom prst="rect">
            <a:avLst/>
          </a:prstGeom>
          <a:noFill/>
          <a:ln>
            <a:noFill/>
          </a:ln>
        </p:spPr>
      </p:pic>
      <p:sp>
        <p:nvSpPr>
          <p:cNvPr id="104" name="Google Shape;104;p19"/>
          <p:cNvSpPr txBox="1"/>
          <p:nvPr/>
        </p:nvSpPr>
        <p:spPr>
          <a:xfrm>
            <a:off x="7157400" y="1200525"/>
            <a:ext cx="1859400" cy="3490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GB">
                <a:solidFill>
                  <a:schemeClr val="dk2"/>
                </a:solidFill>
                <a:latin typeface="Helvetica Neue"/>
                <a:ea typeface="Helvetica Neue"/>
                <a:cs typeface="Helvetica Neue"/>
                <a:sym typeface="Helvetica Neue"/>
              </a:rPr>
              <a:t>As we can see in the Graph as well that as the education level increases the mean of annual income also </a:t>
            </a:r>
            <a:r>
              <a:rPr b="1" lang="en-GB">
                <a:solidFill>
                  <a:schemeClr val="dk2"/>
                </a:solidFill>
                <a:latin typeface="Helvetica Neue"/>
                <a:ea typeface="Helvetica Neue"/>
                <a:cs typeface="Helvetica Neue"/>
                <a:sym typeface="Helvetica Neue"/>
              </a:rPr>
              <a:t>increases. There are less employees with Masters and Doctoral degree that is the reason why the mean of income is declining at the end. </a:t>
            </a:r>
            <a:endParaRPr b="1">
              <a:solidFill>
                <a:schemeClr val="dk2"/>
              </a:solidFill>
              <a:latin typeface="Helvetica Neue"/>
              <a:ea typeface="Helvetica Neue"/>
              <a:cs typeface="Helvetica Neue"/>
              <a:sym typeface="Helvetica Neue"/>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 name="Shape 108"/>
        <p:cNvGrpSpPr/>
        <p:nvPr/>
      </p:nvGrpSpPr>
      <p:grpSpPr>
        <a:xfrm>
          <a:off x="0" y="0"/>
          <a:ext cx="0" cy="0"/>
          <a:chOff x="0" y="0"/>
          <a:chExt cx="0" cy="0"/>
        </a:xfrm>
      </p:grpSpPr>
      <p:sp>
        <p:nvSpPr>
          <p:cNvPr id="109" name="Google Shape;109;p20"/>
          <p:cNvSpPr txBox="1"/>
          <p:nvPr/>
        </p:nvSpPr>
        <p:spPr>
          <a:xfrm>
            <a:off x="180525" y="260550"/>
            <a:ext cx="7957500" cy="609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GB" sz="1600">
                <a:solidFill>
                  <a:schemeClr val="dk1"/>
                </a:solidFill>
                <a:latin typeface="Helvetica Neue"/>
                <a:ea typeface="Helvetica Neue"/>
                <a:cs typeface="Helvetica Neue"/>
                <a:sym typeface="Helvetica Neue"/>
              </a:rPr>
              <a:t>c) Calculating the Frequency Distribution and the Relative Frequency Distribution for the age of the workers;</a:t>
            </a:r>
            <a:endParaRPr b="1" sz="2200">
              <a:solidFill>
                <a:schemeClr val="dk2"/>
              </a:solidFill>
              <a:latin typeface="Helvetica Neue"/>
              <a:ea typeface="Helvetica Neue"/>
              <a:cs typeface="Helvetica Neue"/>
              <a:sym typeface="Helvetica Neue"/>
            </a:endParaRPr>
          </a:p>
        </p:txBody>
      </p:sp>
      <p:sp>
        <p:nvSpPr>
          <p:cNvPr id="110" name="Google Shape;110;p20"/>
          <p:cNvSpPr txBox="1"/>
          <p:nvPr/>
        </p:nvSpPr>
        <p:spPr>
          <a:xfrm>
            <a:off x="180525" y="948450"/>
            <a:ext cx="1563300" cy="422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GB" sz="1600">
                <a:solidFill>
                  <a:schemeClr val="dk2"/>
                </a:solidFill>
                <a:latin typeface="Helvetica Neue"/>
                <a:ea typeface="Helvetica Neue"/>
                <a:cs typeface="Helvetica Neue"/>
                <a:sym typeface="Helvetica Neue"/>
              </a:rPr>
              <a:t>The process;</a:t>
            </a:r>
            <a:endParaRPr b="1" sz="1600">
              <a:solidFill>
                <a:schemeClr val="dk2"/>
              </a:solidFill>
              <a:latin typeface="Helvetica Neue"/>
              <a:ea typeface="Helvetica Neue"/>
              <a:cs typeface="Helvetica Neue"/>
              <a:sym typeface="Helvetica Neue"/>
            </a:endParaRPr>
          </a:p>
        </p:txBody>
      </p:sp>
      <p:pic>
        <p:nvPicPr>
          <p:cNvPr id="111" name="Google Shape;111;p20" title="Screenshot 2025-03-16 150245.png"/>
          <p:cNvPicPr preferRelativeResize="0"/>
          <p:nvPr/>
        </p:nvPicPr>
        <p:blipFill>
          <a:blip r:embed="rId3">
            <a:alphaModFix/>
          </a:blip>
          <a:stretch>
            <a:fillRect/>
          </a:stretch>
        </p:blipFill>
        <p:spPr>
          <a:xfrm>
            <a:off x="449047" y="1448850"/>
            <a:ext cx="6653877" cy="3468150"/>
          </a:xfrm>
          <a:prstGeom prst="rect">
            <a:avLst/>
          </a:prstGeom>
          <a:noFill/>
          <a:ln>
            <a:noFill/>
          </a:ln>
        </p:spPr>
      </p:pic>
      <p:sp>
        <p:nvSpPr>
          <p:cNvPr id="112" name="Google Shape;112;p20"/>
          <p:cNvSpPr txBox="1"/>
          <p:nvPr/>
        </p:nvSpPr>
        <p:spPr>
          <a:xfrm>
            <a:off x="7196725" y="1672800"/>
            <a:ext cx="1563300" cy="1797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i="1" lang="en-GB">
                <a:solidFill>
                  <a:schemeClr val="dk2"/>
                </a:solidFill>
                <a:latin typeface="Helvetica Neue"/>
                <a:ea typeface="Helvetica Neue"/>
                <a:cs typeface="Helvetica Neue"/>
                <a:sym typeface="Helvetica Neue"/>
              </a:rPr>
              <a:t>Open the SPSS file saved as </a:t>
            </a:r>
            <a:endParaRPr b="1" i="1">
              <a:solidFill>
                <a:schemeClr val="dk2"/>
              </a:solidFill>
              <a:latin typeface="Helvetica Neue"/>
              <a:ea typeface="Helvetica Neue"/>
              <a:cs typeface="Helvetica Neue"/>
              <a:sym typeface="Helvetica Neue"/>
            </a:endParaRPr>
          </a:p>
          <a:p>
            <a:pPr indent="0" lvl="0" marL="0" rtl="0" algn="l">
              <a:spcBef>
                <a:spcPts val="0"/>
              </a:spcBef>
              <a:spcAft>
                <a:spcPts val="0"/>
              </a:spcAft>
              <a:buNone/>
            </a:pPr>
            <a:r>
              <a:rPr b="1" i="1" lang="en-GB">
                <a:solidFill>
                  <a:schemeClr val="dk2"/>
                </a:solidFill>
                <a:latin typeface="Helvetica Neue"/>
                <a:ea typeface="Helvetica Neue"/>
                <a:cs typeface="Helvetica Neue"/>
                <a:sym typeface="Helvetica Neue"/>
              </a:rPr>
              <a:t>UsWorkers.sav and follow the steps as displayed in the image</a:t>
            </a:r>
            <a:endParaRPr b="1" i="1">
              <a:solidFill>
                <a:schemeClr val="dk2"/>
              </a:solidFill>
              <a:latin typeface="Helvetica Neue"/>
              <a:ea typeface="Helvetica Neue"/>
              <a:cs typeface="Helvetica Neue"/>
              <a:sym typeface="Helvetica Neue"/>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sp>
        <p:nvSpPr>
          <p:cNvPr id="117" name="Google Shape;117;p21"/>
          <p:cNvSpPr txBox="1"/>
          <p:nvPr/>
        </p:nvSpPr>
        <p:spPr>
          <a:xfrm>
            <a:off x="225775" y="186975"/>
            <a:ext cx="3046800" cy="381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GB" sz="1600">
                <a:solidFill>
                  <a:schemeClr val="dk2"/>
                </a:solidFill>
                <a:latin typeface="Helvetica Neue"/>
                <a:ea typeface="Helvetica Neue"/>
                <a:cs typeface="Helvetica Neue"/>
                <a:sym typeface="Helvetica Neue"/>
              </a:rPr>
              <a:t>The output and the insights;</a:t>
            </a:r>
            <a:endParaRPr b="1" sz="1600">
              <a:solidFill>
                <a:schemeClr val="dk2"/>
              </a:solidFill>
              <a:latin typeface="Helvetica Neue"/>
              <a:ea typeface="Helvetica Neue"/>
              <a:cs typeface="Helvetica Neue"/>
              <a:sym typeface="Helvetica Neue"/>
            </a:endParaRPr>
          </a:p>
        </p:txBody>
      </p:sp>
      <p:pic>
        <p:nvPicPr>
          <p:cNvPr id="118" name="Google Shape;118;p21" title="Screenshot 2025-03-15 225246.png"/>
          <p:cNvPicPr preferRelativeResize="0"/>
          <p:nvPr/>
        </p:nvPicPr>
        <p:blipFill>
          <a:blip r:embed="rId3">
            <a:alphaModFix/>
          </a:blip>
          <a:stretch>
            <a:fillRect/>
          </a:stretch>
        </p:blipFill>
        <p:spPr>
          <a:xfrm>
            <a:off x="225775" y="567975"/>
            <a:ext cx="2490712" cy="2090650"/>
          </a:xfrm>
          <a:prstGeom prst="rect">
            <a:avLst/>
          </a:prstGeom>
          <a:noFill/>
          <a:ln>
            <a:noFill/>
          </a:ln>
        </p:spPr>
      </p:pic>
      <p:pic>
        <p:nvPicPr>
          <p:cNvPr id="119" name="Google Shape;119;p21" title="Screenshot 2025-03-15 225256.png"/>
          <p:cNvPicPr preferRelativeResize="0"/>
          <p:nvPr/>
        </p:nvPicPr>
        <p:blipFill>
          <a:blip r:embed="rId4">
            <a:alphaModFix/>
          </a:blip>
          <a:stretch>
            <a:fillRect/>
          </a:stretch>
        </p:blipFill>
        <p:spPr>
          <a:xfrm>
            <a:off x="225775" y="2767225"/>
            <a:ext cx="4398430" cy="2090650"/>
          </a:xfrm>
          <a:prstGeom prst="rect">
            <a:avLst/>
          </a:prstGeom>
          <a:noFill/>
          <a:ln>
            <a:noFill/>
          </a:ln>
        </p:spPr>
      </p:pic>
      <p:sp>
        <p:nvSpPr>
          <p:cNvPr id="120" name="Google Shape;120;p21"/>
          <p:cNvSpPr txBox="1"/>
          <p:nvPr/>
        </p:nvSpPr>
        <p:spPr>
          <a:xfrm>
            <a:off x="3131950" y="886050"/>
            <a:ext cx="5331000" cy="11412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1200"/>
              </a:spcAft>
              <a:buNone/>
            </a:pPr>
            <a:r>
              <a:rPr b="1" lang="en-GB">
                <a:solidFill>
                  <a:schemeClr val="dk2"/>
                </a:solidFill>
                <a:latin typeface="Helvetica Neue"/>
                <a:ea typeface="Helvetica Neue"/>
                <a:cs typeface="Helvetica Neue"/>
                <a:sym typeface="Helvetica Neue"/>
              </a:rPr>
              <a:t>From the output tables we can confirm that there are 2050 cases with 0 missing values indicating a perfect sample size for analysis and the minimum code value 2 which indicates that there are no workers under the age of 18.</a:t>
            </a:r>
            <a:endParaRPr b="1">
              <a:solidFill>
                <a:schemeClr val="dk2"/>
              </a:solidFill>
              <a:latin typeface="Helvetica Neue"/>
              <a:ea typeface="Helvetica Neue"/>
              <a:cs typeface="Helvetica Neue"/>
              <a:sym typeface="Helvetica Neue"/>
            </a:endParaRPr>
          </a:p>
        </p:txBody>
      </p:sp>
      <p:sp>
        <p:nvSpPr>
          <p:cNvPr id="121" name="Google Shape;121;p21"/>
          <p:cNvSpPr txBox="1"/>
          <p:nvPr/>
        </p:nvSpPr>
        <p:spPr>
          <a:xfrm>
            <a:off x="4648425" y="2683800"/>
            <a:ext cx="4143000" cy="20907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1200"/>
              </a:spcAft>
              <a:buNone/>
            </a:pPr>
            <a:r>
              <a:rPr b="1" lang="en-GB">
                <a:solidFill>
                  <a:schemeClr val="dk2"/>
                </a:solidFill>
                <a:latin typeface="Helvetica Neue"/>
                <a:ea typeface="Helvetica Neue"/>
                <a:cs typeface="Helvetica Neue"/>
                <a:sym typeface="Helvetica Neue"/>
              </a:rPr>
              <a:t>Furthermore, it is clearly visible that compared to the workforce with ages below 35 and the workforce with ages above 65, the number of workers with the age group ranging from 35 to 64 are significantly higher. They contribute up to 76.1% of the workers, which means that average number of people in the US start their careers roughly at the age of 35.</a:t>
            </a:r>
            <a:endParaRPr b="1">
              <a:solidFill>
                <a:schemeClr val="dk2"/>
              </a:solidFill>
              <a:latin typeface="Helvetica Neue"/>
              <a:ea typeface="Helvetica Neue"/>
              <a:cs typeface="Helvetica Neue"/>
              <a:sym typeface="Helvetica Neue"/>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 name="Shape 125"/>
        <p:cNvGrpSpPr/>
        <p:nvPr/>
      </p:nvGrpSpPr>
      <p:grpSpPr>
        <a:xfrm>
          <a:off x="0" y="0"/>
          <a:ext cx="0" cy="0"/>
          <a:chOff x="0" y="0"/>
          <a:chExt cx="0" cy="0"/>
        </a:xfrm>
      </p:grpSpPr>
      <p:sp>
        <p:nvSpPr>
          <p:cNvPr id="126" name="Google Shape;126;p22"/>
          <p:cNvSpPr txBox="1"/>
          <p:nvPr/>
        </p:nvSpPr>
        <p:spPr>
          <a:xfrm>
            <a:off x="83375" y="80325"/>
            <a:ext cx="8864400" cy="873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GB" sz="1600">
                <a:solidFill>
                  <a:schemeClr val="dk2"/>
                </a:solidFill>
                <a:latin typeface="Helvetica Neue"/>
                <a:ea typeface="Helvetica Neue"/>
                <a:cs typeface="Helvetica Neue"/>
                <a:sym typeface="Helvetica Neue"/>
              </a:rPr>
              <a:t>d) Recode variables Q5 and Q6 and calculate the </a:t>
            </a:r>
            <a:r>
              <a:rPr b="1" lang="en-GB" sz="1600">
                <a:solidFill>
                  <a:schemeClr val="dk2"/>
                </a:solidFill>
                <a:highlight>
                  <a:srgbClr val="FFFFFF"/>
                </a:highlight>
                <a:latin typeface="Helvetica Neue"/>
                <a:ea typeface="Helvetica Neue"/>
                <a:cs typeface="Helvetica Neue"/>
                <a:sym typeface="Helvetica Neue"/>
              </a:rPr>
              <a:t>proportion of survey respondents agree that their workplace has both a great performing management and a first class team of workers;</a:t>
            </a:r>
            <a:endParaRPr b="1" sz="1600">
              <a:solidFill>
                <a:schemeClr val="dk2"/>
              </a:solidFill>
              <a:highlight>
                <a:srgbClr val="FFFFFF"/>
              </a:highlight>
              <a:latin typeface="Helvetica Neue"/>
              <a:ea typeface="Helvetica Neue"/>
              <a:cs typeface="Helvetica Neue"/>
              <a:sym typeface="Helvetica Neue"/>
            </a:endParaRPr>
          </a:p>
          <a:p>
            <a:pPr indent="0" lvl="0" marL="0" rtl="0" algn="l">
              <a:spcBef>
                <a:spcPts val="0"/>
              </a:spcBef>
              <a:spcAft>
                <a:spcPts val="0"/>
              </a:spcAft>
              <a:buNone/>
            </a:pPr>
            <a:r>
              <a:t/>
            </a:r>
            <a:endParaRPr b="1" sz="1600">
              <a:solidFill>
                <a:schemeClr val="dk2"/>
              </a:solidFill>
              <a:latin typeface="Helvetica Neue"/>
              <a:ea typeface="Helvetica Neue"/>
              <a:cs typeface="Helvetica Neue"/>
              <a:sym typeface="Helvetica Neue"/>
            </a:endParaRPr>
          </a:p>
        </p:txBody>
      </p:sp>
      <p:pic>
        <p:nvPicPr>
          <p:cNvPr id="127" name="Google Shape;127;p22" title="Screenshot 2025-03-17 160938.png"/>
          <p:cNvPicPr preferRelativeResize="0"/>
          <p:nvPr/>
        </p:nvPicPr>
        <p:blipFill>
          <a:blip r:embed="rId3">
            <a:alphaModFix/>
          </a:blip>
          <a:stretch>
            <a:fillRect/>
          </a:stretch>
        </p:blipFill>
        <p:spPr>
          <a:xfrm>
            <a:off x="228600" y="954222"/>
            <a:ext cx="6862050" cy="4189279"/>
          </a:xfrm>
          <a:prstGeom prst="rect">
            <a:avLst/>
          </a:prstGeom>
          <a:noFill/>
          <a:ln>
            <a:noFill/>
          </a:ln>
        </p:spPr>
      </p:pic>
      <p:sp>
        <p:nvSpPr>
          <p:cNvPr id="128" name="Google Shape;128;p22"/>
          <p:cNvSpPr txBox="1"/>
          <p:nvPr/>
        </p:nvSpPr>
        <p:spPr>
          <a:xfrm>
            <a:off x="7111025" y="1729800"/>
            <a:ext cx="1496700" cy="1683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i="1" lang="en-GB">
                <a:solidFill>
                  <a:schemeClr val="dk2"/>
                </a:solidFill>
                <a:latin typeface="Helvetica Neue"/>
                <a:ea typeface="Helvetica Neue"/>
                <a:cs typeface="Helvetica Neue"/>
                <a:sym typeface="Helvetica Neue"/>
              </a:rPr>
              <a:t>Open the SPSS file saved as </a:t>
            </a:r>
            <a:endParaRPr b="1" i="1">
              <a:solidFill>
                <a:schemeClr val="dk2"/>
              </a:solidFill>
              <a:latin typeface="Helvetica Neue"/>
              <a:ea typeface="Helvetica Neue"/>
              <a:cs typeface="Helvetica Neue"/>
              <a:sym typeface="Helvetica Neue"/>
            </a:endParaRPr>
          </a:p>
          <a:p>
            <a:pPr indent="0" lvl="0" marL="0" rtl="0" algn="l">
              <a:spcBef>
                <a:spcPts val="0"/>
              </a:spcBef>
              <a:spcAft>
                <a:spcPts val="0"/>
              </a:spcAft>
              <a:buClr>
                <a:schemeClr val="dk1"/>
              </a:buClr>
              <a:buSzPts val="1100"/>
              <a:buFont typeface="Arial"/>
              <a:buNone/>
            </a:pPr>
            <a:r>
              <a:rPr b="1" i="1" lang="en-GB">
                <a:solidFill>
                  <a:schemeClr val="dk2"/>
                </a:solidFill>
                <a:latin typeface="Helvetica Neue"/>
                <a:ea typeface="Helvetica Neue"/>
                <a:cs typeface="Helvetica Neue"/>
                <a:sym typeface="Helvetica Neue"/>
              </a:rPr>
              <a:t>UsWorkers.sav and follow the steps as displayed in the image</a:t>
            </a:r>
            <a:endParaRPr b="1" i="1">
              <a:solidFill>
                <a:schemeClr val="dk2"/>
              </a:solidFill>
              <a:latin typeface="Helvetica Neue"/>
              <a:ea typeface="Helvetica Neue"/>
              <a:cs typeface="Helvetica Neue"/>
              <a:sym typeface="Helvetica Neue"/>
            </a:endParaRPr>
          </a:p>
        </p:txBody>
      </p:sp>
      <p:sp>
        <p:nvSpPr>
          <p:cNvPr id="129" name="Google Shape;129;p22"/>
          <p:cNvSpPr txBox="1"/>
          <p:nvPr/>
        </p:nvSpPr>
        <p:spPr>
          <a:xfrm>
            <a:off x="7111025" y="954225"/>
            <a:ext cx="1496700" cy="432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GB" sz="1600">
                <a:solidFill>
                  <a:schemeClr val="dk2"/>
                </a:solidFill>
                <a:latin typeface="Helvetica Neue"/>
                <a:ea typeface="Helvetica Neue"/>
                <a:cs typeface="Helvetica Neue"/>
                <a:sym typeface="Helvetica Neue"/>
              </a:rPr>
              <a:t>The process;</a:t>
            </a:r>
            <a:endParaRPr b="1" sz="1600">
              <a:solidFill>
                <a:schemeClr val="dk2"/>
              </a:solidFill>
              <a:latin typeface="Helvetica Neue"/>
              <a:ea typeface="Helvetica Neue"/>
              <a:cs typeface="Helvetica Neue"/>
              <a:sym typeface="Helvetica Neue"/>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pic>
        <p:nvPicPr>
          <p:cNvPr id="134" name="Google Shape;134;p23" title="Screenshot 2025-03-17 154740.png"/>
          <p:cNvPicPr preferRelativeResize="0"/>
          <p:nvPr/>
        </p:nvPicPr>
        <p:blipFill>
          <a:blip r:embed="rId3">
            <a:alphaModFix/>
          </a:blip>
          <a:stretch>
            <a:fillRect/>
          </a:stretch>
        </p:blipFill>
        <p:spPr>
          <a:xfrm>
            <a:off x="152400" y="152400"/>
            <a:ext cx="4260262" cy="3212350"/>
          </a:xfrm>
          <a:prstGeom prst="rect">
            <a:avLst/>
          </a:prstGeom>
          <a:noFill/>
          <a:ln>
            <a:noFill/>
          </a:ln>
        </p:spPr>
      </p:pic>
      <p:sp>
        <p:nvSpPr>
          <p:cNvPr id="135" name="Google Shape;135;p23"/>
          <p:cNvSpPr txBox="1"/>
          <p:nvPr/>
        </p:nvSpPr>
        <p:spPr>
          <a:xfrm>
            <a:off x="4683125" y="215450"/>
            <a:ext cx="3843900" cy="1513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GB" sz="1600">
                <a:solidFill>
                  <a:schemeClr val="dk2"/>
                </a:solidFill>
                <a:latin typeface="Helvetica Neue"/>
                <a:ea typeface="Helvetica Neue"/>
                <a:cs typeface="Helvetica Neue"/>
                <a:sym typeface="Helvetica Neue"/>
              </a:rPr>
              <a:t>After creating new variables NQ5 and NQ6 adding value labels in the variable view tab of the data editor window for both the variables should be done</a:t>
            </a:r>
            <a:endParaRPr b="1" sz="1600">
              <a:solidFill>
                <a:schemeClr val="dk2"/>
              </a:solidFill>
              <a:latin typeface="Helvetica Neue"/>
              <a:ea typeface="Helvetica Neue"/>
              <a:cs typeface="Helvetica Neue"/>
              <a:sym typeface="Helvetica Neue"/>
            </a:endParaRPr>
          </a:p>
        </p:txBody>
      </p:sp>
      <p:sp>
        <p:nvSpPr>
          <p:cNvPr id="136" name="Google Shape;136;p23"/>
          <p:cNvSpPr txBox="1"/>
          <p:nvPr/>
        </p:nvSpPr>
        <p:spPr>
          <a:xfrm>
            <a:off x="192775" y="3464150"/>
            <a:ext cx="8334300" cy="1513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GB" sz="1600">
                <a:solidFill>
                  <a:schemeClr val="dk2"/>
                </a:solidFill>
                <a:latin typeface="Helvetica Neue"/>
                <a:ea typeface="Helvetica Neue"/>
                <a:cs typeface="Helvetica Neue"/>
                <a:sym typeface="Helvetica Neue"/>
              </a:rPr>
              <a:t>To find the proportion of workers agreeing about their workplace having both great performing management and a first class team of workers, we create a new variable combining NQ5 and NQ6 </a:t>
            </a:r>
            <a:r>
              <a:rPr b="1" lang="en-GB" sz="1600">
                <a:solidFill>
                  <a:schemeClr val="dk2"/>
                </a:solidFill>
                <a:latin typeface="Helvetica Neue"/>
                <a:ea typeface="Helvetica Neue"/>
                <a:cs typeface="Helvetica Neue"/>
                <a:sym typeface="Helvetica Neue"/>
              </a:rPr>
              <a:t>which is called ‘CombinedScale’ and the process to create this variable is followed in the next slide</a:t>
            </a:r>
            <a:endParaRPr b="1" sz="1600">
              <a:solidFill>
                <a:schemeClr val="dk2"/>
              </a:solidFill>
              <a:latin typeface="Helvetica Neue"/>
              <a:ea typeface="Helvetica Neue"/>
              <a:cs typeface="Helvetica Neue"/>
              <a:sym typeface="Helvetica Neue"/>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 name="Shape 140"/>
        <p:cNvGrpSpPr/>
        <p:nvPr/>
      </p:nvGrpSpPr>
      <p:grpSpPr>
        <a:xfrm>
          <a:off x="0" y="0"/>
          <a:ext cx="0" cy="0"/>
          <a:chOff x="0" y="0"/>
          <a:chExt cx="0" cy="0"/>
        </a:xfrm>
      </p:grpSpPr>
      <p:pic>
        <p:nvPicPr>
          <p:cNvPr id="141" name="Google Shape;141;p24" title="Screenshot 2025-03-17 173908.png"/>
          <p:cNvPicPr preferRelativeResize="0"/>
          <p:nvPr/>
        </p:nvPicPr>
        <p:blipFill>
          <a:blip r:embed="rId3">
            <a:alphaModFix/>
          </a:blip>
          <a:stretch>
            <a:fillRect/>
          </a:stretch>
        </p:blipFill>
        <p:spPr>
          <a:xfrm>
            <a:off x="0" y="152403"/>
            <a:ext cx="5679524" cy="2982350"/>
          </a:xfrm>
          <a:prstGeom prst="rect">
            <a:avLst/>
          </a:prstGeom>
          <a:noFill/>
          <a:ln>
            <a:noFill/>
          </a:ln>
        </p:spPr>
      </p:pic>
      <p:pic>
        <p:nvPicPr>
          <p:cNvPr id="142" name="Google Shape;142;p24" title="Screenshot 2025-03-17 170157.png"/>
          <p:cNvPicPr preferRelativeResize="0"/>
          <p:nvPr/>
        </p:nvPicPr>
        <p:blipFill>
          <a:blip r:embed="rId4">
            <a:alphaModFix/>
          </a:blip>
          <a:stretch>
            <a:fillRect/>
          </a:stretch>
        </p:blipFill>
        <p:spPr>
          <a:xfrm>
            <a:off x="5894224" y="152400"/>
            <a:ext cx="3097376" cy="2331015"/>
          </a:xfrm>
          <a:prstGeom prst="rect">
            <a:avLst/>
          </a:prstGeom>
          <a:noFill/>
          <a:ln>
            <a:noFill/>
          </a:ln>
        </p:spPr>
      </p:pic>
      <p:sp>
        <p:nvSpPr>
          <p:cNvPr id="143" name="Google Shape;143;p24"/>
          <p:cNvSpPr txBox="1"/>
          <p:nvPr/>
        </p:nvSpPr>
        <p:spPr>
          <a:xfrm>
            <a:off x="5921000" y="2736200"/>
            <a:ext cx="3097500" cy="1204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GB" sz="1600">
                <a:solidFill>
                  <a:schemeClr val="dk2"/>
                </a:solidFill>
                <a:latin typeface="Helvetica Neue"/>
                <a:ea typeface="Helvetica Neue"/>
                <a:cs typeface="Helvetica Neue"/>
                <a:sym typeface="Helvetica Neue"/>
              </a:rPr>
              <a:t>After creating new variable CombinedScale, value labels are added as shown in the image above</a:t>
            </a:r>
            <a:endParaRPr b="1" sz="1600">
              <a:solidFill>
                <a:schemeClr val="dk2"/>
              </a:solidFill>
              <a:latin typeface="Helvetica Neue"/>
              <a:ea typeface="Helvetica Neue"/>
              <a:cs typeface="Helvetica Neue"/>
              <a:sym typeface="Helvetica Neue"/>
            </a:endParaRPr>
          </a:p>
        </p:txBody>
      </p:sp>
      <p:sp>
        <p:nvSpPr>
          <p:cNvPr id="144" name="Google Shape;144;p24"/>
          <p:cNvSpPr txBox="1"/>
          <p:nvPr/>
        </p:nvSpPr>
        <p:spPr>
          <a:xfrm>
            <a:off x="83375" y="3215350"/>
            <a:ext cx="5596200" cy="1813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GB" sz="1600">
                <a:solidFill>
                  <a:schemeClr val="dk2"/>
                </a:solidFill>
                <a:latin typeface="Helvetica Neue"/>
                <a:ea typeface="Helvetica Neue"/>
                <a:cs typeface="Helvetica Neue"/>
                <a:sym typeface="Helvetica Neue"/>
              </a:rPr>
              <a:t>For frequencies and percentage follow the steps from question c except you </a:t>
            </a:r>
            <a:r>
              <a:rPr b="1" lang="en-GB" sz="1600">
                <a:solidFill>
                  <a:schemeClr val="dk2"/>
                </a:solidFill>
                <a:latin typeface="Helvetica Neue"/>
                <a:ea typeface="Helvetica Neue"/>
                <a:cs typeface="Helvetica Neue"/>
                <a:sym typeface="Helvetica Neue"/>
              </a:rPr>
              <a:t>substitute</a:t>
            </a:r>
            <a:r>
              <a:rPr b="1" lang="en-GB" sz="1600">
                <a:solidFill>
                  <a:schemeClr val="dk2"/>
                </a:solidFill>
                <a:latin typeface="Helvetica Neue"/>
                <a:ea typeface="Helvetica Neue"/>
                <a:cs typeface="Helvetica Neue"/>
                <a:sym typeface="Helvetica Neue"/>
              </a:rPr>
              <a:t> the S2 variable for the CombinedScale</a:t>
            </a:r>
            <a:endParaRPr b="1" sz="1600">
              <a:solidFill>
                <a:schemeClr val="dk2"/>
              </a:solidFill>
              <a:latin typeface="Helvetica Neue"/>
              <a:ea typeface="Helvetica Neue"/>
              <a:cs typeface="Helvetica Neue"/>
              <a:sym typeface="Helvetica Neue"/>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 name="Shape 148"/>
        <p:cNvGrpSpPr/>
        <p:nvPr/>
      </p:nvGrpSpPr>
      <p:grpSpPr>
        <a:xfrm>
          <a:off x="0" y="0"/>
          <a:ext cx="0" cy="0"/>
          <a:chOff x="0" y="0"/>
          <a:chExt cx="0" cy="0"/>
        </a:xfrm>
      </p:grpSpPr>
      <p:sp>
        <p:nvSpPr>
          <p:cNvPr id="149" name="Google Shape;149;p25"/>
          <p:cNvSpPr txBox="1"/>
          <p:nvPr/>
        </p:nvSpPr>
        <p:spPr>
          <a:xfrm>
            <a:off x="90725" y="164425"/>
            <a:ext cx="2925600" cy="391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GB" sz="1600">
                <a:solidFill>
                  <a:schemeClr val="dk2"/>
                </a:solidFill>
                <a:latin typeface="Helvetica Neue"/>
                <a:ea typeface="Helvetica Neue"/>
                <a:cs typeface="Helvetica Neue"/>
                <a:sym typeface="Helvetica Neue"/>
              </a:rPr>
              <a:t>The </a:t>
            </a:r>
            <a:r>
              <a:rPr b="1" lang="en-GB" sz="1600">
                <a:solidFill>
                  <a:schemeClr val="dk2"/>
                </a:solidFill>
                <a:latin typeface="Helvetica Neue"/>
                <a:ea typeface="Helvetica Neue"/>
                <a:cs typeface="Helvetica Neue"/>
                <a:sym typeface="Helvetica Neue"/>
              </a:rPr>
              <a:t>output and the insights;</a:t>
            </a:r>
            <a:endParaRPr b="1" sz="1600">
              <a:solidFill>
                <a:schemeClr val="dk2"/>
              </a:solidFill>
              <a:latin typeface="Helvetica Neue"/>
              <a:ea typeface="Helvetica Neue"/>
              <a:cs typeface="Helvetica Neue"/>
              <a:sym typeface="Helvetica Neue"/>
            </a:endParaRPr>
          </a:p>
        </p:txBody>
      </p:sp>
      <p:pic>
        <p:nvPicPr>
          <p:cNvPr id="150" name="Google Shape;150;p25" title="Screenshot 2025-03-17 170319.png"/>
          <p:cNvPicPr preferRelativeResize="0"/>
          <p:nvPr/>
        </p:nvPicPr>
        <p:blipFill>
          <a:blip r:embed="rId3">
            <a:alphaModFix/>
          </a:blip>
          <a:stretch>
            <a:fillRect/>
          </a:stretch>
        </p:blipFill>
        <p:spPr>
          <a:xfrm>
            <a:off x="90725" y="555613"/>
            <a:ext cx="2743200" cy="2562225"/>
          </a:xfrm>
          <a:prstGeom prst="rect">
            <a:avLst/>
          </a:prstGeom>
          <a:noFill/>
          <a:ln>
            <a:noFill/>
          </a:ln>
        </p:spPr>
      </p:pic>
      <p:pic>
        <p:nvPicPr>
          <p:cNvPr id="151" name="Google Shape;151;p25" title="Screenshot 2025-03-17 170331.png"/>
          <p:cNvPicPr preferRelativeResize="0"/>
          <p:nvPr/>
        </p:nvPicPr>
        <p:blipFill>
          <a:blip r:embed="rId4">
            <a:alphaModFix/>
          </a:blip>
          <a:stretch>
            <a:fillRect/>
          </a:stretch>
        </p:blipFill>
        <p:spPr>
          <a:xfrm>
            <a:off x="2833925" y="750862"/>
            <a:ext cx="5892575" cy="2171748"/>
          </a:xfrm>
          <a:prstGeom prst="rect">
            <a:avLst/>
          </a:prstGeom>
          <a:noFill/>
          <a:ln>
            <a:noFill/>
          </a:ln>
        </p:spPr>
      </p:pic>
      <p:sp>
        <p:nvSpPr>
          <p:cNvPr id="152" name="Google Shape;152;p25"/>
          <p:cNvSpPr txBox="1"/>
          <p:nvPr/>
        </p:nvSpPr>
        <p:spPr>
          <a:xfrm>
            <a:off x="149700" y="3590550"/>
            <a:ext cx="8844600" cy="938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GB" sz="1600">
                <a:solidFill>
                  <a:schemeClr val="dk2"/>
                </a:solidFill>
                <a:latin typeface="Helvetica Neue"/>
                <a:ea typeface="Helvetica Neue"/>
                <a:cs typeface="Helvetica Neue"/>
                <a:sym typeface="Helvetica Neue"/>
              </a:rPr>
              <a:t>30.1% of the workforce who attempted the survey agree that they have both exceptional workers and management teams, 5.1% of the workforce disagree to both the claims and lastly the majority of the workforce(64.8%) have different opinions on each of the claims.</a:t>
            </a:r>
            <a:endParaRPr b="1" sz="1600">
              <a:solidFill>
                <a:schemeClr val="dk2"/>
              </a:solidFill>
              <a:latin typeface="Helvetica Neue"/>
              <a:ea typeface="Helvetica Neue"/>
              <a:cs typeface="Helvetica Neue"/>
              <a:sym typeface="Helvetica Neue"/>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 name="Shape 156"/>
        <p:cNvGrpSpPr/>
        <p:nvPr/>
      </p:nvGrpSpPr>
      <p:grpSpPr>
        <a:xfrm>
          <a:off x="0" y="0"/>
          <a:ext cx="0" cy="0"/>
          <a:chOff x="0" y="0"/>
          <a:chExt cx="0" cy="0"/>
        </a:xfrm>
      </p:grpSpPr>
      <p:sp>
        <p:nvSpPr>
          <p:cNvPr id="157" name="Google Shape;157;p26"/>
          <p:cNvSpPr txBox="1"/>
          <p:nvPr/>
        </p:nvSpPr>
        <p:spPr>
          <a:xfrm>
            <a:off x="180525" y="260550"/>
            <a:ext cx="8717700" cy="994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GB" sz="1600">
                <a:solidFill>
                  <a:schemeClr val="dk1"/>
                </a:solidFill>
                <a:latin typeface="Helvetica Neue"/>
                <a:ea typeface="Helvetica Neue"/>
                <a:cs typeface="Helvetica Neue"/>
                <a:sym typeface="Helvetica Neue"/>
              </a:rPr>
              <a:t>e)  Calculate the average annual earnings separately for unionized and non unionized workers. Determine whether there is a statistically significant difference between the annual earnings of unionized workers and </a:t>
            </a:r>
            <a:r>
              <a:rPr b="1" lang="en-GB" sz="1600">
                <a:solidFill>
                  <a:schemeClr val="dk1"/>
                </a:solidFill>
                <a:latin typeface="Helvetica Neue"/>
                <a:ea typeface="Helvetica Neue"/>
                <a:cs typeface="Helvetica Neue"/>
                <a:sym typeface="Helvetica Neue"/>
              </a:rPr>
              <a:t>non unionized</a:t>
            </a:r>
            <a:r>
              <a:rPr b="1" lang="en-GB" sz="1600">
                <a:solidFill>
                  <a:schemeClr val="dk1"/>
                </a:solidFill>
                <a:latin typeface="Helvetica Neue"/>
                <a:ea typeface="Helvetica Neue"/>
                <a:cs typeface="Helvetica Neue"/>
                <a:sym typeface="Helvetica Neue"/>
              </a:rPr>
              <a:t> workers;</a:t>
            </a:r>
            <a:endParaRPr b="1" sz="1600">
              <a:solidFill>
                <a:schemeClr val="dk2"/>
              </a:solidFill>
              <a:latin typeface="Helvetica Neue"/>
              <a:ea typeface="Helvetica Neue"/>
              <a:cs typeface="Helvetica Neue"/>
              <a:sym typeface="Helvetica Neue"/>
            </a:endParaRPr>
          </a:p>
        </p:txBody>
      </p:sp>
      <p:pic>
        <p:nvPicPr>
          <p:cNvPr id="158" name="Google Shape;158;p26"/>
          <p:cNvPicPr preferRelativeResize="0"/>
          <p:nvPr/>
        </p:nvPicPr>
        <p:blipFill>
          <a:blip r:embed="rId3">
            <a:alphaModFix/>
          </a:blip>
          <a:stretch>
            <a:fillRect/>
          </a:stretch>
        </p:blipFill>
        <p:spPr>
          <a:xfrm>
            <a:off x="727375" y="1678350"/>
            <a:ext cx="3082646" cy="2419350"/>
          </a:xfrm>
          <a:prstGeom prst="rect">
            <a:avLst/>
          </a:prstGeom>
          <a:noFill/>
          <a:ln cap="flat" cmpd="sng" w="9525">
            <a:solidFill>
              <a:schemeClr val="accent1"/>
            </a:solidFill>
            <a:prstDash val="solid"/>
            <a:round/>
            <a:headEnd len="sm" w="sm" type="none"/>
            <a:tailEnd len="sm" w="sm" type="none"/>
          </a:ln>
        </p:spPr>
      </p:pic>
      <p:sp>
        <p:nvSpPr>
          <p:cNvPr id="159" name="Google Shape;159;p26"/>
          <p:cNvSpPr/>
          <p:nvPr/>
        </p:nvSpPr>
        <p:spPr>
          <a:xfrm>
            <a:off x="520575" y="2719400"/>
            <a:ext cx="419700" cy="194400"/>
          </a:xfrm>
          <a:prstGeom prst="rightArrow">
            <a:avLst>
              <a:gd fmla="val 50000" name="adj1"/>
              <a:gd fmla="val 50000" name="adj2"/>
            </a:avLst>
          </a:prstGeom>
          <a:solidFill>
            <a:schemeClr val="lt2"/>
          </a:solid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60" name="Google Shape;160;p26"/>
          <p:cNvSpPr/>
          <p:nvPr/>
        </p:nvSpPr>
        <p:spPr>
          <a:xfrm>
            <a:off x="3810025" y="3462300"/>
            <a:ext cx="419700" cy="194400"/>
          </a:xfrm>
          <a:prstGeom prst="leftArrow">
            <a:avLst>
              <a:gd fmla="val 50000" name="adj1"/>
              <a:gd fmla="val 50000" name="adj2"/>
            </a:avLst>
          </a:prstGeom>
          <a:solidFill>
            <a:schemeClr val="lt2"/>
          </a:solid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61" name="Google Shape;161;p26"/>
          <p:cNvSpPr/>
          <p:nvPr/>
        </p:nvSpPr>
        <p:spPr>
          <a:xfrm>
            <a:off x="401050" y="1768500"/>
            <a:ext cx="419700" cy="194400"/>
          </a:xfrm>
          <a:prstGeom prst="rightArrow">
            <a:avLst>
              <a:gd fmla="val 50000" name="adj1"/>
              <a:gd fmla="val 50000" name="adj2"/>
            </a:avLst>
          </a:prstGeom>
          <a:solidFill>
            <a:schemeClr val="lt2"/>
          </a:solid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162" name="Google Shape;162;p26"/>
          <p:cNvPicPr preferRelativeResize="0"/>
          <p:nvPr/>
        </p:nvPicPr>
        <p:blipFill>
          <a:blip r:embed="rId4">
            <a:alphaModFix/>
          </a:blip>
          <a:stretch>
            <a:fillRect/>
          </a:stretch>
        </p:blipFill>
        <p:spPr>
          <a:xfrm>
            <a:off x="4428675" y="1446674"/>
            <a:ext cx="3641325" cy="2250150"/>
          </a:xfrm>
          <a:prstGeom prst="rect">
            <a:avLst/>
          </a:prstGeom>
          <a:noFill/>
          <a:ln cap="flat" cmpd="sng" w="9525">
            <a:solidFill>
              <a:schemeClr val="accent1"/>
            </a:solidFill>
            <a:prstDash val="solid"/>
            <a:round/>
            <a:headEnd len="sm" w="sm" type="none"/>
            <a:tailEnd len="sm" w="sm" type="none"/>
          </a:ln>
        </p:spPr>
      </p:pic>
      <p:sp>
        <p:nvSpPr>
          <p:cNvPr id="163" name="Google Shape;163;p26"/>
          <p:cNvSpPr/>
          <p:nvPr/>
        </p:nvSpPr>
        <p:spPr>
          <a:xfrm flipH="1" rot="10800000">
            <a:off x="5407675" y="2719400"/>
            <a:ext cx="792600" cy="458400"/>
          </a:xfrm>
          <a:prstGeom prst="bentArrow">
            <a:avLst>
              <a:gd fmla="val 25000" name="adj1"/>
              <a:gd fmla="val 25000" name="adj2"/>
              <a:gd fmla="val 25000" name="adj3"/>
              <a:gd fmla="val 43750" name="adj4"/>
            </a:avLst>
          </a:prstGeom>
          <a:solidFill>
            <a:schemeClr val="lt2"/>
          </a:solid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64" name="Google Shape;164;p26"/>
          <p:cNvSpPr/>
          <p:nvPr/>
        </p:nvSpPr>
        <p:spPr>
          <a:xfrm>
            <a:off x="5881675" y="1889825"/>
            <a:ext cx="318600" cy="194400"/>
          </a:xfrm>
          <a:prstGeom prst="rightArrow">
            <a:avLst>
              <a:gd fmla="val 50000" name="adj1"/>
              <a:gd fmla="val 50000" name="adj2"/>
            </a:avLst>
          </a:prstGeom>
          <a:solidFill>
            <a:schemeClr val="lt2"/>
          </a:solid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65" name="Google Shape;165;p26"/>
          <p:cNvSpPr/>
          <p:nvPr/>
        </p:nvSpPr>
        <p:spPr>
          <a:xfrm>
            <a:off x="7901625" y="2122925"/>
            <a:ext cx="419700" cy="194400"/>
          </a:xfrm>
          <a:prstGeom prst="leftArrow">
            <a:avLst>
              <a:gd fmla="val 50000" name="adj1"/>
              <a:gd fmla="val 50000" name="adj2"/>
            </a:avLst>
          </a:prstGeom>
          <a:solidFill>
            <a:schemeClr val="lt2"/>
          </a:solid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166" name="Google Shape;166;p26"/>
          <p:cNvPicPr preferRelativeResize="0"/>
          <p:nvPr/>
        </p:nvPicPr>
        <p:blipFill>
          <a:blip r:embed="rId5">
            <a:alphaModFix/>
          </a:blip>
          <a:stretch>
            <a:fillRect/>
          </a:stretch>
        </p:blipFill>
        <p:spPr>
          <a:xfrm>
            <a:off x="6922775" y="2571750"/>
            <a:ext cx="1658075" cy="2338099"/>
          </a:xfrm>
          <a:prstGeom prst="rect">
            <a:avLst/>
          </a:prstGeom>
          <a:noFill/>
          <a:ln cap="flat" cmpd="sng" w="9525">
            <a:solidFill>
              <a:schemeClr val="accent1"/>
            </a:solidFill>
            <a:prstDash val="solid"/>
            <a:round/>
            <a:headEnd len="sm" w="sm" type="none"/>
            <a:tailEnd len="sm" w="sm" type="none"/>
          </a:ln>
        </p:spPr>
      </p:pic>
      <p:sp>
        <p:nvSpPr>
          <p:cNvPr id="167" name="Google Shape;167;p26"/>
          <p:cNvSpPr/>
          <p:nvPr/>
        </p:nvSpPr>
        <p:spPr>
          <a:xfrm>
            <a:off x="7580075" y="2951275"/>
            <a:ext cx="419700" cy="194400"/>
          </a:xfrm>
          <a:prstGeom prst="leftArrow">
            <a:avLst>
              <a:gd fmla="val 50000" name="adj1"/>
              <a:gd fmla="val 50000" name="adj2"/>
            </a:avLst>
          </a:prstGeom>
          <a:solidFill>
            <a:schemeClr val="lt2"/>
          </a:solid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68" name="Google Shape;168;p26"/>
          <p:cNvSpPr/>
          <p:nvPr/>
        </p:nvSpPr>
        <p:spPr>
          <a:xfrm>
            <a:off x="8122300" y="3216650"/>
            <a:ext cx="419700" cy="194400"/>
          </a:xfrm>
          <a:prstGeom prst="leftArrow">
            <a:avLst>
              <a:gd fmla="val 50000" name="adj1"/>
              <a:gd fmla="val 50000" name="adj2"/>
            </a:avLst>
          </a:prstGeom>
          <a:solidFill>
            <a:schemeClr val="lt2"/>
          </a:solid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69" name="Google Shape;169;p26"/>
          <p:cNvSpPr/>
          <p:nvPr/>
        </p:nvSpPr>
        <p:spPr>
          <a:xfrm>
            <a:off x="7580075" y="3656700"/>
            <a:ext cx="419700" cy="194400"/>
          </a:xfrm>
          <a:prstGeom prst="leftArrow">
            <a:avLst>
              <a:gd fmla="val 50000" name="adj1"/>
              <a:gd fmla="val 50000" name="adj2"/>
            </a:avLst>
          </a:prstGeom>
          <a:solidFill>
            <a:schemeClr val="lt2"/>
          </a:solid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70" name="Google Shape;170;p26"/>
          <p:cNvSpPr/>
          <p:nvPr/>
        </p:nvSpPr>
        <p:spPr>
          <a:xfrm>
            <a:off x="7614725" y="4617550"/>
            <a:ext cx="419700" cy="194400"/>
          </a:xfrm>
          <a:prstGeom prst="leftArrow">
            <a:avLst>
              <a:gd fmla="val 50000" name="adj1"/>
              <a:gd fmla="val 50000" name="adj2"/>
            </a:avLst>
          </a:prstGeom>
          <a:solidFill>
            <a:schemeClr val="lt2"/>
          </a:solid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71" name="Google Shape;171;p26"/>
          <p:cNvSpPr/>
          <p:nvPr/>
        </p:nvSpPr>
        <p:spPr>
          <a:xfrm rot="-5400000">
            <a:off x="5761275" y="3286450"/>
            <a:ext cx="1204200" cy="1631700"/>
          </a:xfrm>
          <a:prstGeom prst="bentArrow">
            <a:avLst>
              <a:gd fmla="val 12339" name="adj1"/>
              <a:gd fmla="val 13638" name="adj2"/>
              <a:gd fmla="val 15578" name="adj3"/>
              <a:gd fmla="val 43750" name="adj4"/>
            </a:avLst>
          </a:prstGeom>
          <a:solidFill>
            <a:schemeClr val="lt2"/>
          </a:solid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72" name="Google Shape;172;p26"/>
          <p:cNvSpPr txBox="1"/>
          <p:nvPr/>
        </p:nvSpPr>
        <p:spPr>
          <a:xfrm>
            <a:off x="107500" y="1692300"/>
            <a:ext cx="257700" cy="315600"/>
          </a:xfrm>
          <a:prstGeom prst="rect">
            <a:avLst/>
          </a:prstGeom>
          <a:noFill/>
          <a:ln cap="flat" cmpd="sng" w="9525">
            <a:solidFill>
              <a:srgbClr val="FF0000"/>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GB" sz="1000">
                <a:solidFill>
                  <a:schemeClr val="dk2"/>
                </a:solidFill>
              </a:rPr>
              <a:t>1</a:t>
            </a:r>
            <a:endParaRPr sz="1000">
              <a:solidFill>
                <a:schemeClr val="dk2"/>
              </a:solidFill>
            </a:endParaRPr>
          </a:p>
        </p:txBody>
      </p:sp>
      <p:sp>
        <p:nvSpPr>
          <p:cNvPr id="173" name="Google Shape;173;p26"/>
          <p:cNvSpPr txBox="1"/>
          <p:nvPr/>
        </p:nvSpPr>
        <p:spPr>
          <a:xfrm>
            <a:off x="221050" y="2658800"/>
            <a:ext cx="257700" cy="315600"/>
          </a:xfrm>
          <a:prstGeom prst="rect">
            <a:avLst/>
          </a:prstGeom>
          <a:noFill/>
          <a:ln cap="flat" cmpd="sng" w="9525">
            <a:solidFill>
              <a:srgbClr val="FF0000"/>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GB" sz="1000">
                <a:solidFill>
                  <a:schemeClr val="dk2"/>
                </a:solidFill>
              </a:rPr>
              <a:t>2</a:t>
            </a:r>
            <a:endParaRPr sz="1000">
              <a:solidFill>
                <a:schemeClr val="dk2"/>
              </a:solidFill>
            </a:endParaRPr>
          </a:p>
        </p:txBody>
      </p:sp>
      <p:sp>
        <p:nvSpPr>
          <p:cNvPr id="174" name="Google Shape;174;p26"/>
          <p:cNvSpPr txBox="1"/>
          <p:nvPr/>
        </p:nvSpPr>
        <p:spPr>
          <a:xfrm>
            <a:off x="4275050" y="3401700"/>
            <a:ext cx="257700" cy="315600"/>
          </a:xfrm>
          <a:prstGeom prst="rect">
            <a:avLst/>
          </a:prstGeom>
          <a:solidFill>
            <a:schemeClr val="lt1"/>
          </a:solidFill>
          <a:ln cap="flat" cmpd="sng" w="9525">
            <a:solidFill>
              <a:srgbClr val="FF0000"/>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GB" sz="1000">
                <a:solidFill>
                  <a:schemeClr val="dk2"/>
                </a:solidFill>
              </a:rPr>
              <a:t>3</a:t>
            </a:r>
            <a:endParaRPr sz="1000">
              <a:solidFill>
                <a:schemeClr val="dk2"/>
              </a:solidFill>
            </a:endParaRPr>
          </a:p>
        </p:txBody>
      </p:sp>
      <p:sp>
        <p:nvSpPr>
          <p:cNvPr id="175" name="Google Shape;175;p26"/>
          <p:cNvSpPr txBox="1"/>
          <p:nvPr/>
        </p:nvSpPr>
        <p:spPr>
          <a:xfrm>
            <a:off x="5102175" y="2730225"/>
            <a:ext cx="257700" cy="315600"/>
          </a:xfrm>
          <a:prstGeom prst="rect">
            <a:avLst/>
          </a:prstGeom>
          <a:noFill/>
          <a:ln cap="flat" cmpd="sng" w="9525">
            <a:solidFill>
              <a:srgbClr val="FF0000"/>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GB" sz="1000">
                <a:solidFill>
                  <a:schemeClr val="dk2"/>
                </a:solidFill>
              </a:rPr>
              <a:t>4</a:t>
            </a:r>
            <a:endParaRPr sz="1000">
              <a:solidFill>
                <a:schemeClr val="dk2"/>
              </a:solidFill>
            </a:endParaRPr>
          </a:p>
        </p:txBody>
      </p:sp>
      <p:sp>
        <p:nvSpPr>
          <p:cNvPr id="176" name="Google Shape;176;p26"/>
          <p:cNvSpPr txBox="1"/>
          <p:nvPr/>
        </p:nvSpPr>
        <p:spPr>
          <a:xfrm>
            <a:off x="5814000" y="1574225"/>
            <a:ext cx="257700" cy="315600"/>
          </a:xfrm>
          <a:prstGeom prst="rect">
            <a:avLst/>
          </a:prstGeom>
          <a:solidFill>
            <a:schemeClr val="lt1"/>
          </a:solidFill>
          <a:ln cap="flat" cmpd="sng" w="9525">
            <a:solidFill>
              <a:srgbClr val="FF0000"/>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GB" sz="1000">
                <a:solidFill>
                  <a:schemeClr val="dk2"/>
                </a:solidFill>
              </a:rPr>
              <a:t>5</a:t>
            </a:r>
            <a:endParaRPr sz="1000">
              <a:solidFill>
                <a:schemeClr val="dk2"/>
              </a:solidFill>
            </a:endParaRPr>
          </a:p>
        </p:txBody>
      </p:sp>
      <p:sp>
        <p:nvSpPr>
          <p:cNvPr id="177" name="Google Shape;177;p26"/>
          <p:cNvSpPr txBox="1"/>
          <p:nvPr/>
        </p:nvSpPr>
        <p:spPr>
          <a:xfrm>
            <a:off x="8382750" y="2062325"/>
            <a:ext cx="257700" cy="315600"/>
          </a:xfrm>
          <a:prstGeom prst="rect">
            <a:avLst/>
          </a:prstGeom>
          <a:noFill/>
          <a:ln cap="flat" cmpd="sng" w="9525">
            <a:solidFill>
              <a:srgbClr val="FF0000"/>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GB" sz="1000">
                <a:solidFill>
                  <a:schemeClr val="dk2"/>
                </a:solidFill>
              </a:rPr>
              <a:t>6</a:t>
            </a:r>
            <a:endParaRPr sz="1000">
              <a:solidFill>
                <a:schemeClr val="dk2"/>
              </a:solidFill>
            </a:endParaRPr>
          </a:p>
        </p:txBody>
      </p:sp>
      <p:sp>
        <p:nvSpPr>
          <p:cNvPr id="178" name="Google Shape;178;p26"/>
          <p:cNvSpPr txBox="1"/>
          <p:nvPr/>
        </p:nvSpPr>
        <p:spPr>
          <a:xfrm>
            <a:off x="8034425" y="2890675"/>
            <a:ext cx="257700" cy="315600"/>
          </a:xfrm>
          <a:prstGeom prst="rect">
            <a:avLst/>
          </a:prstGeom>
          <a:noFill/>
          <a:ln cap="flat" cmpd="sng" w="9525">
            <a:solidFill>
              <a:srgbClr val="FF0000"/>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GB" sz="1000">
                <a:solidFill>
                  <a:schemeClr val="dk2"/>
                </a:solidFill>
              </a:rPr>
              <a:t>7</a:t>
            </a:r>
            <a:endParaRPr sz="1000">
              <a:solidFill>
                <a:schemeClr val="dk2"/>
              </a:solidFill>
            </a:endParaRPr>
          </a:p>
        </p:txBody>
      </p:sp>
      <p:sp>
        <p:nvSpPr>
          <p:cNvPr id="179" name="Google Shape;179;p26"/>
          <p:cNvSpPr txBox="1"/>
          <p:nvPr/>
        </p:nvSpPr>
        <p:spPr>
          <a:xfrm>
            <a:off x="8640450" y="3156050"/>
            <a:ext cx="257700" cy="315600"/>
          </a:xfrm>
          <a:prstGeom prst="rect">
            <a:avLst/>
          </a:prstGeom>
          <a:noFill/>
          <a:ln cap="flat" cmpd="sng" w="9525">
            <a:solidFill>
              <a:srgbClr val="FF0000"/>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GB" sz="1000">
                <a:solidFill>
                  <a:schemeClr val="dk2"/>
                </a:solidFill>
              </a:rPr>
              <a:t>8</a:t>
            </a:r>
            <a:endParaRPr sz="1000">
              <a:solidFill>
                <a:schemeClr val="dk2"/>
              </a:solidFill>
            </a:endParaRPr>
          </a:p>
        </p:txBody>
      </p:sp>
      <p:sp>
        <p:nvSpPr>
          <p:cNvPr id="180" name="Google Shape;180;p26"/>
          <p:cNvSpPr txBox="1"/>
          <p:nvPr/>
        </p:nvSpPr>
        <p:spPr>
          <a:xfrm>
            <a:off x="8070000" y="3596100"/>
            <a:ext cx="257700" cy="315600"/>
          </a:xfrm>
          <a:prstGeom prst="rect">
            <a:avLst/>
          </a:prstGeom>
          <a:noFill/>
          <a:ln cap="flat" cmpd="sng" w="9525">
            <a:solidFill>
              <a:srgbClr val="FF0000"/>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GB" sz="1000">
                <a:solidFill>
                  <a:schemeClr val="dk2"/>
                </a:solidFill>
              </a:rPr>
              <a:t>9</a:t>
            </a:r>
            <a:endParaRPr sz="1000">
              <a:solidFill>
                <a:schemeClr val="dk2"/>
              </a:solidFill>
            </a:endParaRPr>
          </a:p>
        </p:txBody>
      </p:sp>
      <p:sp>
        <p:nvSpPr>
          <p:cNvPr id="181" name="Google Shape;181;p26"/>
          <p:cNvSpPr txBox="1"/>
          <p:nvPr/>
        </p:nvSpPr>
        <p:spPr>
          <a:xfrm>
            <a:off x="8122300" y="4556950"/>
            <a:ext cx="354300" cy="315600"/>
          </a:xfrm>
          <a:prstGeom prst="rect">
            <a:avLst/>
          </a:prstGeom>
          <a:solidFill>
            <a:schemeClr val="lt1"/>
          </a:solidFill>
          <a:ln cap="flat" cmpd="sng" w="9525">
            <a:solidFill>
              <a:srgbClr val="FF0000"/>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GB" sz="1000">
                <a:solidFill>
                  <a:schemeClr val="dk2"/>
                </a:solidFill>
              </a:rPr>
              <a:t>10</a:t>
            </a:r>
            <a:endParaRPr sz="1000">
              <a:solidFill>
                <a:schemeClr val="dk2"/>
              </a:solidFill>
            </a:endParaRPr>
          </a:p>
        </p:txBody>
      </p:sp>
      <p:sp>
        <p:nvSpPr>
          <p:cNvPr id="182" name="Google Shape;182;p26"/>
          <p:cNvSpPr txBox="1"/>
          <p:nvPr/>
        </p:nvSpPr>
        <p:spPr>
          <a:xfrm>
            <a:off x="6683425" y="4188775"/>
            <a:ext cx="354300" cy="315600"/>
          </a:xfrm>
          <a:prstGeom prst="rect">
            <a:avLst/>
          </a:prstGeom>
          <a:solidFill>
            <a:schemeClr val="lt1"/>
          </a:solidFill>
          <a:ln cap="flat" cmpd="sng" w="9525">
            <a:solidFill>
              <a:srgbClr val="FF0000"/>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GB" sz="1000">
                <a:solidFill>
                  <a:schemeClr val="dk2"/>
                </a:solidFill>
              </a:rPr>
              <a:t>11</a:t>
            </a:r>
            <a:endParaRPr sz="1000">
              <a:solidFill>
                <a:schemeClr val="dk2"/>
              </a:solidFill>
            </a:endParaRPr>
          </a:p>
        </p:txBody>
      </p:sp>
      <p:sp>
        <p:nvSpPr>
          <p:cNvPr id="183" name="Google Shape;183;p26"/>
          <p:cNvSpPr txBox="1"/>
          <p:nvPr/>
        </p:nvSpPr>
        <p:spPr>
          <a:xfrm>
            <a:off x="180525" y="1254750"/>
            <a:ext cx="1437000" cy="422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GB" sz="1600">
                <a:solidFill>
                  <a:schemeClr val="dk2"/>
                </a:solidFill>
                <a:latin typeface="Helvetica Neue"/>
                <a:ea typeface="Helvetica Neue"/>
                <a:cs typeface="Helvetica Neue"/>
                <a:sym typeface="Helvetica Neue"/>
              </a:rPr>
              <a:t>The process;</a:t>
            </a:r>
            <a:endParaRPr b="1" sz="1600">
              <a:solidFill>
                <a:schemeClr val="dk2"/>
              </a:solidFill>
              <a:latin typeface="Helvetica Neue"/>
              <a:ea typeface="Helvetica Neue"/>
              <a:cs typeface="Helvetica Neue"/>
              <a:sym typeface="Helvetica Neue"/>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pic>
        <p:nvPicPr>
          <p:cNvPr id="188" name="Google Shape;188;p27"/>
          <p:cNvPicPr preferRelativeResize="0"/>
          <p:nvPr/>
        </p:nvPicPr>
        <p:blipFill>
          <a:blip r:embed="rId3">
            <a:alphaModFix/>
          </a:blip>
          <a:stretch>
            <a:fillRect/>
          </a:stretch>
        </p:blipFill>
        <p:spPr>
          <a:xfrm>
            <a:off x="216288" y="910400"/>
            <a:ext cx="4739074" cy="1362675"/>
          </a:xfrm>
          <a:prstGeom prst="rect">
            <a:avLst/>
          </a:prstGeom>
          <a:noFill/>
          <a:ln>
            <a:noFill/>
          </a:ln>
        </p:spPr>
      </p:pic>
      <p:pic>
        <p:nvPicPr>
          <p:cNvPr id="189" name="Google Shape;189;p27"/>
          <p:cNvPicPr preferRelativeResize="0"/>
          <p:nvPr/>
        </p:nvPicPr>
        <p:blipFill>
          <a:blip r:embed="rId4">
            <a:alphaModFix/>
          </a:blip>
          <a:stretch>
            <a:fillRect/>
          </a:stretch>
        </p:blipFill>
        <p:spPr>
          <a:xfrm>
            <a:off x="4882325" y="304225"/>
            <a:ext cx="3324724" cy="1243125"/>
          </a:xfrm>
          <a:prstGeom prst="rect">
            <a:avLst/>
          </a:prstGeom>
          <a:noFill/>
          <a:ln>
            <a:noFill/>
          </a:ln>
        </p:spPr>
      </p:pic>
      <p:pic>
        <p:nvPicPr>
          <p:cNvPr id="190" name="Google Shape;190;p27"/>
          <p:cNvPicPr preferRelativeResize="0"/>
          <p:nvPr/>
        </p:nvPicPr>
        <p:blipFill>
          <a:blip r:embed="rId5">
            <a:alphaModFix/>
          </a:blip>
          <a:stretch>
            <a:fillRect/>
          </a:stretch>
        </p:blipFill>
        <p:spPr>
          <a:xfrm>
            <a:off x="172425" y="2043725"/>
            <a:ext cx="3942319" cy="1243125"/>
          </a:xfrm>
          <a:prstGeom prst="rect">
            <a:avLst/>
          </a:prstGeom>
          <a:noFill/>
          <a:ln>
            <a:noFill/>
          </a:ln>
        </p:spPr>
      </p:pic>
      <p:sp>
        <p:nvSpPr>
          <p:cNvPr id="191" name="Google Shape;191;p27"/>
          <p:cNvSpPr/>
          <p:nvPr/>
        </p:nvSpPr>
        <p:spPr>
          <a:xfrm>
            <a:off x="1439875" y="1190050"/>
            <a:ext cx="233100" cy="357300"/>
          </a:xfrm>
          <a:prstGeom prst="downArrow">
            <a:avLst>
              <a:gd fmla="val 50000" name="adj1"/>
              <a:gd fmla="val 50000" name="adj2"/>
            </a:avLst>
          </a:prstGeom>
          <a:solidFill>
            <a:schemeClr val="lt2"/>
          </a:solid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92" name="Google Shape;192;p27"/>
          <p:cNvSpPr/>
          <p:nvPr/>
        </p:nvSpPr>
        <p:spPr>
          <a:xfrm>
            <a:off x="7884400" y="723800"/>
            <a:ext cx="419700" cy="186600"/>
          </a:xfrm>
          <a:prstGeom prst="leftArrow">
            <a:avLst>
              <a:gd fmla="val 50000" name="adj1"/>
              <a:gd fmla="val 50000" name="adj2"/>
            </a:avLst>
          </a:prstGeom>
          <a:solidFill>
            <a:schemeClr val="lt2"/>
          </a:solid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93" name="Google Shape;193;p27"/>
          <p:cNvSpPr/>
          <p:nvPr/>
        </p:nvSpPr>
        <p:spPr>
          <a:xfrm>
            <a:off x="4012600" y="2686663"/>
            <a:ext cx="419700" cy="186600"/>
          </a:xfrm>
          <a:prstGeom prst="leftArrow">
            <a:avLst>
              <a:gd fmla="val 50000" name="adj1"/>
              <a:gd fmla="val 50000" name="adj2"/>
            </a:avLst>
          </a:prstGeom>
          <a:solidFill>
            <a:schemeClr val="lt2"/>
          </a:solid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194" name="Google Shape;194;p27"/>
          <p:cNvPicPr preferRelativeResize="0"/>
          <p:nvPr/>
        </p:nvPicPr>
        <p:blipFill>
          <a:blip r:embed="rId6">
            <a:alphaModFix/>
          </a:blip>
          <a:stretch>
            <a:fillRect/>
          </a:stretch>
        </p:blipFill>
        <p:spPr>
          <a:xfrm>
            <a:off x="4979375" y="1478925"/>
            <a:ext cx="3324725" cy="2091795"/>
          </a:xfrm>
          <a:prstGeom prst="rect">
            <a:avLst/>
          </a:prstGeom>
          <a:noFill/>
          <a:ln>
            <a:noFill/>
          </a:ln>
        </p:spPr>
      </p:pic>
      <p:sp>
        <p:nvSpPr>
          <p:cNvPr id="195" name="Google Shape;195;p27"/>
          <p:cNvSpPr txBox="1"/>
          <p:nvPr/>
        </p:nvSpPr>
        <p:spPr>
          <a:xfrm>
            <a:off x="90725" y="3286850"/>
            <a:ext cx="4990200" cy="1748400"/>
          </a:xfrm>
          <a:prstGeom prst="rect">
            <a:avLst/>
          </a:prstGeom>
          <a:noFill/>
          <a:ln>
            <a:noFill/>
          </a:ln>
        </p:spPr>
        <p:txBody>
          <a:bodyPr anchorCtr="0" anchor="t" bIns="91425" lIns="91425" spcFirstLastPara="1" rIns="91425" wrap="square" tIns="91425">
            <a:noAutofit/>
          </a:bodyPr>
          <a:lstStyle/>
          <a:p>
            <a:pPr indent="-285750" lvl="0" marL="457200" rtl="0" algn="l">
              <a:spcBef>
                <a:spcPts val="0"/>
              </a:spcBef>
              <a:spcAft>
                <a:spcPts val="0"/>
              </a:spcAft>
              <a:buClr>
                <a:schemeClr val="dk2"/>
              </a:buClr>
              <a:buSzPts val="900"/>
              <a:buChar char="●"/>
            </a:pPr>
            <a:r>
              <a:rPr lang="en-GB" sz="900">
                <a:solidFill>
                  <a:schemeClr val="dk2"/>
                </a:solidFill>
                <a:latin typeface="Helvetica Neue"/>
                <a:ea typeface="Helvetica Neue"/>
                <a:cs typeface="Helvetica Neue"/>
                <a:sym typeface="Helvetica Neue"/>
              </a:rPr>
              <a:t>The average annual income for unionized workers is </a:t>
            </a:r>
            <a:r>
              <a:rPr b="1" lang="en-GB" sz="900">
                <a:solidFill>
                  <a:schemeClr val="dk2"/>
                </a:solidFill>
                <a:latin typeface="Helvetica Neue"/>
                <a:ea typeface="Helvetica Neue"/>
                <a:cs typeface="Helvetica Neue"/>
                <a:sym typeface="Helvetica Neue"/>
              </a:rPr>
              <a:t>£69,576.67</a:t>
            </a:r>
            <a:endParaRPr b="1" sz="900">
              <a:solidFill>
                <a:schemeClr val="dk2"/>
              </a:solidFill>
              <a:latin typeface="Helvetica Neue"/>
              <a:ea typeface="Helvetica Neue"/>
              <a:cs typeface="Helvetica Neue"/>
              <a:sym typeface="Helvetica Neue"/>
            </a:endParaRPr>
          </a:p>
          <a:p>
            <a:pPr indent="-285750" lvl="0" marL="457200" rtl="0" algn="l">
              <a:spcBef>
                <a:spcPts val="0"/>
              </a:spcBef>
              <a:spcAft>
                <a:spcPts val="0"/>
              </a:spcAft>
              <a:buClr>
                <a:schemeClr val="dk2"/>
              </a:buClr>
              <a:buSzPts val="900"/>
              <a:buChar char="●"/>
            </a:pPr>
            <a:r>
              <a:rPr lang="en-GB" sz="900">
                <a:solidFill>
                  <a:schemeClr val="dk2"/>
                </a:solidFill>
                <a:latin typeface="Helvetica Neue"/>
                <a:ea typeface="Helvetica Neue"/>
                <a:cs typeface="Helvetica Neue"/>
                <a:sym typeface="Helvetica Neue"/>
              </a:rPr>
              <a:t>The average annual income for non unionized workers is </a:t>
            </a:r>
            <a:r>
              <a:rPr b="1" lang="en-GB" sz="900">
                <a:solidFill>
                  <a:schemeClr val="dk2"/>
                </a:solidFill>
                <a:latin typeface="Helvetica Neue"/>
                <a:ea typeface="Helvetica Neue"/>
                <a:cs typeface="Helvetica Neue"/>
                <a:sym typeface="Helvetica Neue"/>
              </a:rPr>
              <a:t>£61,410.13</a:t>
            </a:r>
            <a:endParaRPr b="1" sz="900">
              <a:solidFill>
                <a:schemeClr val="dk2"/>
              </a:solidFill>
              <a:latin typeface="Helvetica Neue"/>
              <a:ea typeface="Helvetica Neue"/>
              <a:cs typeface="Helvetica Neue"/>
              <a:sym typeface="Helvetica Neue"/>
            </a:endParaRPr>
          </a:p>
          <a:p>
            <a:pPr indent="-285750" lvl="0" marL="457200" rtl="0" algn="l">
              <a:spcBef>
                <a:spcPts val="0"/>
              </a:spcBef>
              <a:spcAft>
                <a:spcPts val="0"/>
              </a:spcAft>
              <a:buClr>
                <a:schemeClr val="dk2"/>
              </a:buClr>
              <a:buSzPts val="900"/>
              <a:buFont typeface="Helvetica Neue"/>
              <a:buChar char="●"/>
            </a:pPr>
            <a:r>
              <a:rPr lang="en-GB" sz="900">
                <a:solidFill>
                  <a:schemeClr val="dk2"/>
                </a:solidFill>
                <a:latin typeface="Helvetica Neue"/>
                <a:ea typeface="Helvetica Neue"/>
                <a:cs typeface="Helvetica Neue"/>
                <a:sym typeface="Helvetica Neue"/>
              </a:rPr>
              <a:t>The Levene’s test result is not a statistically significant p-value, so the assumption of equal variances is met and we can proceed to </a:t>
            </a:r>
            <a:r>
              <a:rPr lang="en-GB" sz="900">
                <a:solidFill>
                  <a:schemeClr val="dk2"/>
                </a:solidFill>
                <a:latin typeface="Helvetica Neue"/>
                <a:ea typeface="Helvetica Neue"/>
                <a:cs typeface="Helvetica Neue"/>
                <a:sym typeface="Helvetica Neue"/>
              </a:rPr>
              <a:t>the</a:t>
            </a:r>
            <a:r>
              <a:rPr lang="en-GB" sz="900">
                <a:solidFill>
                  <a:schemeClr val="dk2"/>
                </a:solidFill>
                <a:latin typeface="Helvetica Neue"/>
                <a:ea typeface="Helvetica Neue"/>
                <a:cs typeface="Helvetica Neue"/>
                <a:sym typeface="Helvetica Neue"/>
              </a:rPr>
              <a:t> ANOVA results</a:t>
            </a:r>
            <a:endParaRPr sz="900">
              <a:solidFill>
                <a:schemeClr val="dk2"/>
              </a:solidFill>
              <a:latin typeface="Helvetica Neue"/>
              <a:ea typeface="Helvetica Neue"/>
              <a:cs typeface="Helvetica Neue"/>
              <a:sym typeface="Helvetica Neue"/>
            </a:endParaRPr>
          </a:p>
          <a:p>
            <a:pPr indent="-285750" lvl="0" marL="457200" rtl="0" algn="l">
              <a:spcBef>
                <a:spcPts val="0"/>
              </a:spcBef>
              <a:spcAft>
                <a:spcPts val="0"/>
              </a:spcAft>
              <a:buClr>
                <a:schemeClr val="dk2"/>
              </a:buClr>
              <a:buSzPts val="900"/>
              <a:buFont typeface="Helvetica Neue"/>
              <a:buChar char="●"/>
            </a:pPr>
            <a:r>
              <a:rPr lang="en-GB" sz="900">
                <a:solidFill>
                  <a:schemeClr val="dk2"/>
                </a:solidFill>
                <a:latin typeface="Helvetica Neue"/>
                <a:ea typeface="Helvetica Neue"/>
                <a:cs typeface="Helvetica Neue"/>
                <a:sym typeface="Helvetica Neue"/>
              </a:rPr>
              <a:t>The ANOVA result is not a statistically significant p-value, therefore we fail to reject the null hypothesis that </a:t>
            </a:r>
            <a:r>
              <a:rPr lang="en-GB" sz="900">
                <a:solidFill>
                  <a:schemeClr val="dk2"/>
                </a:solidFill>
                <a:latin typeface="Helvetica Neue"/>
                <a:ea typeface="Helvetica Neue"/>
                <a:cs typeface="Helvetica Neue"/>
                <a:sym typeface="Helvetica Neue"/>
              </a:rPr>
              <a:t>there is no difference between the means of the groups</a:t>
            </a:r>
            <a:endParaRPr sz="900">
              <a:solidFill>
                <a:schemeClr val="dk2"/>
              </a:solidFill>
              <a:latin typeface="Helvetica Neue"/>
              <a:ea typeface="Helvetica Neue"/>
              <a:cs typeface="Helvetica Neue"/>
              <a:sym typeface="Helvetica Neue"/>
            </a:endParaRPr>
          </a:p>
          <a:p>
            <a:pPr indent="-285750" lvl="1" marL="914400" rtl="0" algn="l">
              <a:spcBef>
                <a:spcPts val="0"/>
              </a:spcBef>
              <a:spcAft>
                <a:spcPts val="0"/>
              </a:spcAft>
              <a:buClr>
                <a:schemeClr val="dk2"/>
              </a:buClr>
              <a:buSzPts val="900"/>
              <a:buChar char="○"/>
            </a:pPr>
            <a:r>
              <a:rPr lang="en-GB" sz="900">
                <a:solidFill>
                  <a:schemeClr val="dk2"/>
                </a:solidFill>
                <a:latin typeface="Helvetica Neue"/>
                <a:ea typeface="Helvetica Neue"/>
                <a:cs typeface="Helvetica Neue"/>
                <a:sym typeface="Helvetica Neue"/>
              </a:rPr>
              <a:t>Therefore, there’s </a:t>
            </a:r>
            <a:r>
              <a:rPr b="1" lang="en-GB" sz="900">
                <a:solidFill>
                  <a:schemeClr val="dk2"/>
                </a:solidFill>
                <a:latin typeface="Helvetica Neue"/>
                <a:ea typeface="Helvetica Neue"/>
                <a:cs typeface="Helvetica Neue"/>
                <a:sym typeface="Helvetica Neue"/>
              </a:rPr>
              <a:t>no significant difference</a:t>
            </a:r>
            <a:r>
              <a:rPr lang="en-GB" sz="900">
                <a:solidFill>
                  <a:schemeClr val="dk2"/>
                </a:solidFill>
                <a:latin typeface="Helvetica Neue"/>
                <a:ea typeface="Helvetica Neue"/>
                <a:cs typeface="Helvetica Neue"/>
                <a:sym typeface="Helvetica Neue"/>
              </a:rPr>
              <a:t> between the average annual income of unionized and nonunionized workers</a:t>
            </a:r>
            <a:endParaRPr sz="900">
              <a:solidFill>
                <a:schemeClr val="dk2"/>
              </a:solidFill>
              <a:latin typeface="Helvetica Neue"/>
              <a:ea typeface="Helvetica Neue"/>
              <a:cs typeface="Helvetica Neue"/>
              <a:sym typeface="Helvetica Neue"/>
            </a:endParaRPr>
          </a:p>
          <a:p>
            <a:pPr indent="-285750" lvl="1" marL="914400" rtl="0" algn="l">
              <a:spcBef>
                <a:spcPts val="0"/>
              </a:spcBef>
              <a:spcAft>
                <a:spcPts val="0"/>
              </a:spcAft>
              <a:buClr>
                <a:schemeClr val="dk2"/>
              </a:buClr>
              <a:buSzPts val="900"/>
              <a:buFont typeface="Helvetica Neue"/>
              <a:buChar char="○"/>
            </a:pPr>
            <a:r>
              <a:rPr lang="en-GB" sz="900">
                <a:solidFill>
                  <a:schemeClr val="dk2"/>
                </a:solidFill>
                <a:latin typeface="Helvetica Neue"/>
                <a:ea typeface="Helvetica Neue"/>
                <a:cs typeface="Helvetica Neue"/>
                <a:sym typeface="Helvetica Neue"/>
              </a:rPr>
              <a:t>Because of this, there is no need for a post-hoc test; additionally, we are only measuring two groups while a post hoc test would determine degrees of difference between at least 3 groups</a:t>
            </a:r>
            <a:endParaRPr sz="900">
              <a:solidFill>
                <a:schemeClr val="dk2"/>
              </a:solidFill>
              <a:latin typeface="Helvetica Neue"/>
              <a:ea typeface="Helvetica Neue"/>
              <a:cs typeface="Helvetica Neue"/>
              <a:sym typeface="Helvetica Neue"/>
            </a:endParaRPr>
          </a:p>
        </p:txBody>
      </p:sp>
      <p:sp>
        <p:nvSpPr>
          <p:cNvPr id="196" name="Google Shape;196;p27"/>
          <p:cNvSpPr txBox="1"/>
          <p:nvPr/>
        </p:nvSpPr>
        <p:spPr>
          <a:xfrm>
            <a:off x="5223338" y="3723125"/>
            <a:ext cx="2836800" cy="1154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i="1" lang="en-GB" sz="900">
                <a:latin typeface="Helvetica Neue"/>
                <a:ea typeface="Helvetica Neue"/>
                <a:cs typeface="Helvetica Neue"/>
                <a:sym typeface="Helvetica Neue"/>
              </a:rPr>
              <a:t>A one-way between-groups analysis of variance was conducted to explore the average annual income. Participants were divided into two groups according to their unionized status. There was a statistically insignificant difference at the p value greater than .05 level in the optimism scores for the employment groups. </a:t>
            </a:r>
            <a:endParaRPr i="1" sz="900">
              <a:latin typeface="Helvetica Neue"/>
              <a:ea typeface="Helvetica Neue"/>
              <a:cs typeface="Helvetica Neue"/>
              <a:sym typeface="Helvetica Neue"/>
            </a:endParaRPr>
          </a:p>
        </p:txBody>
      </p:sp>
      <p:sp>
        <p:nvSpPr>
          <p:cNvPr id="197" name="Google Shape;197;p27"/>
          <p:cNvSpPr txBox="1"/>
          <p:nvPr/>
        </p:nvSpPr>
        <p:spPr>
          <a:xfrm>
            <a:off x="90725" y="164425"/>
            <a:ext cx="3244500" cy="391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GB" sz="1600">
                <a:solidFill>
                  <a:schemeClr val="dk2"/>
                </a:solidFill>
                <a:latin typeface="Helvetica Neue"/>
                <a:ea typeface="Helvetica Neue"/>
                <a:cs typeface="Helvetica Neue"/>
                <a:sym typeface="Helvetica Neue"/>
              </a:rPr>
              <a:t>The output and the insights;</a:t>
            </a:r>
            <a:endParaRPr b="1" sz="1600">
              <a:solidFill>
                <a:schemeClr val="dk2"/>
              </a:solidFill>
              <a:latin typeface="Helvetica Neue"/>
              <a:ea typeface="Helvetica Neue"/>
              <a:cs typeface="Helvetica Neue"/>
              <a:sym typeface="Helvetica Neue"/>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1" name="Shape 201"/>
        <p:cNvGrpSpPr/>
        <p:nvPr/>
      </p:nvGrpSpPr>
      <p:grpSpPr>
        <a:xfrm>
          <a:off x="0" y="0"/>
          <a:ext cx="0" cy="0"/>
          <a:chOff x="0" y="0"/>
          <a:chExt cx="0" cy="0"/>
        </a:xfrm>
      </p:grpSpPr>
      <p:sp>
        <p:nvSpPr>
          <p:cNvPr id="202" name="Google Shape;202;p28"/>
          <p:cNvSpPr txBox="1"/>
          <p:nvPr/>
        </p:nvSpPr>
        <p:spPr>
          <a:xfrm>
            <a:off x="180525" y="260550"/>
            <a:ext cx="7957500" cy="422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GB" sz="1600">
                <a:solidFill>
                  <a:schemeClr val="dk1"/>
                </a:solidFill>
                <a:latin typeface="Helvetica Neue"/>
                <a:ea typeface="Helvetica Neue"/>
                <a:cs typeface="Helvetica Neue"/>
                <a:sym typeface="Helvetica Neue"/>
              </a:rPr>
              <a:t>2. </a:t>
            </a:r>
            <a:r>
              <a:rPr b="1" lang="en-GB" sz="1600">
                <a:solidFill>
                  <a:schemeClr val="dk1"/>
                </a:solidFill>
                <a:latin typeface="Helvetica Neue"/>
                <a:ea typeface="Helvetica Neue"/>
                <a:cs typeface="Helvetica Neue"/>
                <a:sym typeface="Helvetica Neue"/>
              </a:rPr>
              <a:t>Creating Average Summated Scales</a:t>
            </a:r>
            <a:endParaRPr b="1" sz="1600">
              <a:solidFill>
                <a:schemeClr val="dk1"/>
              </a:solidFill>
              <a:latin typeface="Helvetica Neue"/>
              <a:ea typeface="Helvetica Neue"/>
              <a:cs typeface="Helvetica Neue"/>
              <a:sym typeface="Helvetica Neue"/>
            </a:endParaRPr>
          </a:p>
        </p:txBody>
      </p:sp>
      <p:sp>
        <p:nvSpPr>
          <p:cNvPr id="203" name="Google Shape;203;p28"/>
          <p:cNvSpPr txBox="1"/>
          <p:nvPr/>
        </p:nvSpPr>
        <p:spPr>
          <a:xfrm>
            <a:off x="180525" y="948450"/>
            <a:ext cx="1938600" cy="422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GB" sz="1600">
                <a:solidFill>
                  <a:schemeClr val="dk2"/>
                </a:solidFill>
                <a:latin typeface="Helvetica Neue"/>
                <a:ea typeface="Helvetica Neue"/>
                <a:cs typeface="Helvetica Neue"/>
                <a:sym typeface="Helvetica Neue"/>
              </a:rPr>
              <a:t>The Process;</a:t>
            </a:r>
            <a:endParaRPr b="1" sz="1600">
              <a:solidFill>
                <a:schemeClr val="dk2"/>
              </a:solidFill>
              <a:latin typeface="Helvetica Neue"/>
              <a:ea typeface="Helvetica Neue"/>
              <a:cs typeface="Helvetica Neue"/>
              <a:sym typeface="Helvetica Neue"/>
            </a:endParaRPr>
          </a:p>
        </p:txBody>
      </p:sp>
      <p:sp>
        <p:nvSpPr>
          <p:cNvPr id="204" name="Google Shape;204;p28"/>
          <p:cNvSpPr txBox="1"/>
          <p:nvPr/>
        </p:nvSpPr>
        <p:spPr>
          <a:xfrm>
            <a:off x="7196725" y="1672800"/>
            <a:ext cx="1813500" cy="2064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i="1" lang="en-GB" sz="1200">
                <a:solidFill>
                  <a:schemeClr val="dk2"/>
                </a:solidFill>
                <a:latin typeface="Helvetica Neue"/>
                <a:ea typeface="Helvetica Neue"/>
                <a:cs typeface="Helvetica Neue"/>
                <a:sym typeface="Helvetica Neue"/>
              </a:rPr>
              <a:t>Opened CareerOutcomes.sav and created 2 new variables:</a:t>
            </a:r>
            <a:br>
              <a:rPr b="1" i="1" lang="en-GB" sz="1200">
                <a:solidFill>
                  <a:schemeClr val="dk2"/>
                </a:solidFill>
                <a:latin typeface="Helvetica Neue"/>
                <a:ea typeface="Helvetica Neue"/>
                <a:cs typeface="Helvetica Neue"/>
                <a:sym typeface="Helvetica Neue"/>
              </a:rPr>
            </a:br>
            <a:r>
              <a:rPr b="1" i="1" lang="en-GB" sz="1200">
                <a:solidFill>
                  <a:schemeClr val="dk2"/>
                </a:solidFill>
                <a:latin typeface="Helvetica Neue"/>
                <a:ea typeface="Helvetica Neue"/>
                <a:cs typeface="Helvetica Neue"/>
                <a:sym typeface="Helvetica Neue"/>
              </a:rPr>
              <a:t>AverageKW</a:t>
            </a:r>
            <a:endParaRPr b="1" i="1" sz="1200">
              <a:solidFill>
                <a:schemeClr val="dk2"/>
              </a:solidFill>
              <a:latin typeface="Helvetica Neue"/>
              <a:ea typeface="Helvetica Neue"/>
              <a:cs typeface="Helvetica Neue"/>
              <a:sym typeface="Helvetica Neue"/>
            </a:endParaRPr>
          </a:p>
          <a:p>
            <a:pPr indent="0" lvl="0" marL="0" rtl="0" algn="l">
              <a:spcBef>
                <a:spcPts val="0"/>
              </a:spcBef>
              <a:spcAft>
                <a:spcPts val="0"/>
              </a:spcAft>
              <a:buNone/>
            </a:pPr>
            <a:r>
              <a:rPr b="1" i="1" lang="en-GB" sz="1200">
                <a:solidFill>
                  <a:schemeClr val="dk2"/>
                </a:solidFill>
                <a:latin typeface="Helvetica Neue"/>
                <a:ea typeface="Helvetica Neue"/>
                <a:cs typeface="Helvetica Neue"/>
                <a:sym typeface="Helvetica Neue"/>
              </a:rPr>
              <a:t>AverageCS</a:t>
            </a:r>
            <a:endParaRPr b="1" i="1" sz="1200">
              <a:solidFill>
                <a:schemeClr val="dk2"/>
              </a:solidFill>
              <a:latin typeface="Helvetica Neue"/>
              <a:ea typeface="Helvetica Neue"/>
              <a:cs typeface="Helvetica Neue"/>
              <a:sym typeface="Helvetica Neue"/>
            </a:endParaRPr>
          </a:p>
        </p:txBody>
      </p:sp>
      <p:pic>
        <p:nvPicPr>
          <p:cNvPr id="205" name="Google Shape;205;p28" title="1.png"/>
          <p:cNvPicPr preferRelativeResize="0"/>
          <p:nvPr/>
        </p:nvPicPr>
        <p:blipFill>
          <a:blip r:embed="rId3">
            <a:alphaModFix/>
          </a:blip>
          <a:stretch>
            <a:fillRect/>
          </a:stretch>
        </p:blipFill>
        <p:spPr>
          <a:xfrm>
            <a:off x="423174" y="1939925"/>
            <a:ext cx="6679199" cy="179790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9" name="Shape 209"/>
        <p:cNvGrpSpPr/>
        <p:nvPr/>
      </p:nvGrpSpPr>
      <p:grpSpPr>
        <a:xfrm>
          <a:off x="0" y="0"/>
          <a:ext cx="0" cy="0"/>
          <a:chOff x="0" y="0"/>
          <a:chExt cx="0" cy="0"/>
        </a:xfrm>
      </p:grpSpPr>
      <p:sp>
        <p:nvSpPr>
          <p:cNvPr id="210" name="Google Shape;210;p29"/>
          <p:cNvSpPr txBox="1"/>
          <p:nvPr/>
        </p:nvSpPr>
        <p:spPr>
          <a:xfrm>
            <a:off x="180525" y="260550"/>
            <a:ext cx="7957500" cy="609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GB" sz="1600">
                <a:solidFill>
                  <a:schemeClr val="dk2"/>
                </a:solidFill>
                <a:latin typeface="Helvetica Neue"/>
                <a:ea typeface="Helvetica Neue"/>
                <a:cs typeface="Helvetica Neue"/>
                <a:sym typeface="Helvetica Neue"/>
              </a:rPr>
              <a:t>b) </a:t>
            </a:r>
            <a:r>
              <a:rPr b="1" lang="en-GB" sz="1600">
                <a:solidFill>
                  <a:schemeClr val="dk2"/>
                </a:solidFill>
                <a:latin typeface="Helvetica Neue"/>
                <a:ea typeface="Helvetica Neue"/>
                <a:cs typeface="Helvetica Neue"/>
                <a:sym typeface="Helvetica Neue"/>
              </a:rPr>
              <a:t>Descriptive Statistics for New Scales;</a:t>
            </a:r>
            <a:endParaRPr b="1" sz="1600">
              <a:solidFill>
                <a:schemeClr val="dk2"/>
              </a:solidFill>
              <a:latin typeface="Helvetica Neue"/>
              <a:ea typeface="Helvetica Neue"/>
              <a:cs typeface="Helvetica Neue"/>
              <a:sym typeface="Helvetica Neue"/>
            </a:endParaRPr>
          </a:p>
        </p:txBody>
      </p:sp>
      <p:sp>
        <p:nvSpPr>
          <p:cNvPr id="211" name="Google Shape;211;p29"/>
          <p:cNvSpPr txBox="1"/>
          <p:nvPr/>
        </p:nvSpPr>
        <p:spPr>
          <a:xfrm>
            <a:off x="180525" y="948450"/>
            <a:ext cx="1938600" cy="422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GB" sz="1600">
                <a:solidFill>
                  <a:schemeClr val="dk2"/>
                </a:solidFill>
              </a:rPr>
              <a:t>The Process;</a:t>
            </a:r>
            <a:endParaRPr b="1" sz="1600">
              <a:solidFill>
                <a:schemeClr val="dk2"/>
              </a:solidFill>
            </a:endParaRPr>
          </a:p>
        </p:txBody>
      </p:sp>
      <p:sp>
        <p:nvSpPr>
          <p:cNvPr id="212" name="Google Shape;212;p29"/>
          <p:cNvSpPr txBox="1"/>
          <p:nvPr/>
        </p:nvSpPr>
        <p:spPr>
          <a:xfrm>
            <a:off x="7196725" y="1672800"/>
            <a:ext cx="1563300" cy="1797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i="1" lang="en-GB">
                <a:solidFill>
                  <a:schemeClr val="dk2"/>
                </a:solidFill>
                <a:latin typeface="Helvetica Neue"/>
                <a:ea typeface="Helvetica Neue"/>
                <a:cs typeface="Helvetica Neue"/>
                <a:sym typeface="Helvetica Neue"/>
              </a:rPr>
              <a:t>Selected newly made scales under “Explore”, and selected Descriptives and Normality plots</a:t>
            </a:r>
            <a:endParaRPr b="1" i="1">
              <a:solidFill>
                <a:schemeClr val="dk2"/>
              </a:solidFill>
              <a:latin typeface="Helvetica Neue"/>
              <a:ea typeface="Helvetica Neue"/>
              <a:cs typeface="Helvetica Neue"/>
              <a:sym typeface="Helvetica Neue"/>
            </a:endParaRPr>
          </a:p>
        </p:txBody>
      </p:sp>
      <p:pic>
        <p:nvPicPr>
          <p:cNvPr id="213" name="Google Shape;213;p29" title="2.png"/>
          <p:cNvPicPr preferRelativeResize="0"/>
          <p:nvPr/>
        </p:nvPicPr>
        <p:blipFill>
          <a:blip r:embed="rId3">
            <a:alphaModFix/>
          </a:blip>
          <a:stretch>
            <a:fillRect/>
          </a:stretch>
        </p:blipFill>
        <p:spPr>
          <a:xfrm>
            <a:off x="255488" y="1574663"/>
            <a:ext cx="6829425" cy="2695575"/>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 name="Shape 217"/>
        <p:cNvGrpSpPr/>
        <p:nvPr/>
      </p:nvGrpSpPr>
      <p:grpSpPr>
        <a:xfrm>
          <a:off x="0" y="0"/>
          <a:ext cx="0" cy="0"/>
          <a:chOff x="0" y="0"/>
          <a:chExt cx="0" cy="0"/>
        </a:xfrm>
      </p:grpSpPr>
      <p:pic>
        <p:nvPicPr>
          <p:cNvPr id="218" name="Google Shape;218;p30"/>
          <p:cNvPicPr preferRelativeResize="0"/>
          <p:nvPr/>
        </p:nvPicPr>
        <p:blipFill rotWithShape="1">
          <a:blip r:embed="rId3">
            <a:alphaModFix/>
          </a:blip>
          <a:srcRect b="45590" l="0" r="0" t="0"/>
          <a:stretch/>
        </p:blipFill>
        <p:spPr>
          <a:xfrm>
            <a:off x="254825" y="905250"/>
            <a:ext cx="2588376" cy="1717276"/>
          </a:xfrm>
          <a:prstGeom prst="rect">
            <a:avLst/>
          </a:prstGeom>
          <a:noFill/>
          <a:ln>
            <a:noFill/>
          </a:ln>
        </p:spPr>
      </p:pic>
      <p:pic>
        <p:nvPicPr>
          <p:cNvPr id="219" name="Google Shape;219;p30"/>
          <p:cNvPicPr preferRelativeResize="0"/>
          <p:nvPr/>
        </p:nvPicPr>
        <p:blipFill>
          <a:blip r:embed="rId4">
            <a:alphaModFix/>
          </a:blip>
          <a:stretch>
            <a:fillRect/>
          </a:stretch>
        </p:blipFill>
        <p:spPr>
          <a:xfrm>
            <a:off x="3022125" y="1117150"/>
            <a:ext cx="2728540" cy="1581575"/>
          </a:xfrm>
          <a:prstGeom prst="rect">
            <a:avLst/>
          </a:prstGeom>
          <a:noFill/>
          <a:ln>
            <a:noFill/>
          </a:ln>
        </p:spPr>
      </p:pic>
      <p:sp>
        <p:nvSpPr>
          <p:cNvPr id="220" name="Google Shape;220;p30"/>
          <p:cNvSpPr txBox="1"/>
          <p:nvPr/>
        </p:nvSpPr>
        <p:spPr>
          <a:xfrm>
            <a:off x="180525" y="260550"/>
            <a:ext cx="7957500" cy="609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GB" sz="1600">
                <a:solidFill>
                  <a:schemeClr val="dk2"/>
                </a:solidFill>
                <a:latin typeface="Helvetica Neue"/>
                <a:ea typeface="Helvetica Neue"/>
                <a:cs typeface="Helvetica Neue"/>
                <a:sym typeface="Helvetica Neue"/>
              </a:rPr>
              <a:t>Descriptive Statistics and Normality Tests Output</a:t>
            </a:r>
            <a:endParaRPr b="1" sz="1600">
              <a:solidFill>
                <a:schemeClr val="dk2"/>
              </a:solidFill>
              <a:latin typeface="Helvetica Neue"/>
              <a:ea typeface="Helvetica Neue"/>
              <a:cs typeface="Helvetica Neue"/>
              <a:sym typeface="Helvetica Neue"/>
            </a:endParaRPr>
          </a:p>
        </p:txBody>
      </p:sp>
      <p:pic>
        <p:nvPicPr>
          <p:cNvPr id="221" name="Google Shape;221;p30"/>
          <p:cNvPicPr preferRelativeResize="0"/>
          <p:nvPr/>
        </p:nvPicPr>
        <p:blipFill>
          <a:blip r:embed="rId5">
            <a:alphaModFix/>
          </a:blip>
          <a:stretch>
            <a:fillRect/>
          </a:stretch>
        </p:blipFill>
        <p:spPr>
          <a:xfrm>
            <a:off x="180525" y="2825775"/>
            <a:ext cx="5685625" cy="1306700"/>
          </a:xfrm>
          <a:prstGeom prst="rect">
            <a:avLst/>
          </a:prstGeom>
          <a:noFill/>
          <a:ln>
            <a:noFill/>
          </a:ln>
        </p:spPr>
      </p:pic>
      <p:sp>
        <p:nvSpPr>
          <p:cNvPr id="222" name="Google Shape;222;p30"/>
          <p:cNvSpPr txBox="1"/>
          <p:nvPr/>
        </p:nvSpPr>
        <p:spPr>
          <a:xfrm>
            <a:off x="6098575" y="755575"/>
            <a:ext cx="2984100" cy="360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i="1" lang="en-GB">
                <a:solidFill>
                  <a:schemeClr val="dk2"/>
                </a:solidFill>
                <a:latin typeface="Helvetica Neue"/>
                <a:ea typeface="Helvetica Neue"/>
                <a:cs typeface="Helvetica Neue"/>
                <a:sym typeface="Helvetica Neue"/>
              </a:rPr>
              <a:t>Descriptive Statistics Overview:</a:t>
            </a:r>
            <a:endParaRPr b="1" i="1">
              <a:solidFill>
                <a:schemeClr val="dk2"/>
              </a:solidFill>
              <a:latin typeface="Helvetica Neue"/>
              <a:ea typeface="Helvetica Neue"/>
              <a:cs typeface="Helvetica Neue"/>
              <a:sym typeface="Helvetica Neue"/>
            </a:endParaRPr>
          </a:p>
          <a:p>
            <a:pPr indent="0" lvl="0" marL="0" rtl="0" algn="l">
              <a:spcBef>
                <a:spcPts val="0"/>
              </a:spcBef>
              <a:spcAft>
                <a:spcPts val="0"/>
              </a:spcAft>
              <a:buNone/>
            </a:pPr>
            <a:r>
              <a:rPr b="1" i="1" lang="en-GB">
                <a:solidFill>
                  <a:schemeClr val="dk2"/>
                </a:solidFill>
                <a:latin typeface="Helvetica Neue"/>
                <a:ea typeface="Helvetica Neue"/>
                <a:cs typeface="Helvetica Neue"/>
                <a:sym typeface="Helvetica Neue"/>
              </a:rPr>
              <a:t>Knowing Why (KW):</a:t>
            </a:r>
            <a:endParaRPr b="1" i="1">
              <a:solidFill>
                <a:schemeClr val="dk2"/>
              </a:solidFill>
              <a:latin typeface="Helvetica Neue"/>
              <a:ea typeface="Helvetica Neue"/>
              <a:cs typeface="Helvetica Neue"/>
              <a:sym typeface="Helvetica Neue"/>
            </a:endParaRPr>
          </a:p>
          <a:p>
            <a:pPr indent="0" lvl="0" marL="0" rtl="0" algn="l">
              <a:spcBef>
                <a:spcPts val="0"/>
              </a:spcBef>
              <a:spcAft>
                <a:spcPts val="0"/>
              </a:spcAft>
              <a:buNone/>
            </a:pPr>
            <a:r>
              <a:t/>
            </a:r>
            <a:endParaRPr b="1" i="1">
              <a:solidFill>
                <a:schemeClr val="dk2"/>
              </a:solidFill>
              <a:latin typeface="Helvetica Neue"/>
              <a:ea typeface="Helvetica Neue"/>
              <a:cs typeface="Helvetica Neue"/>
              <a:sym typeface="Helvetica Neue"/>
            </a:endParaRPr>
          </a:p>
          <a:p>
            <a:pPr indent="0" lvl="0" marL="0" rtl="0" algn="l">
              <a:spcBef>
                <a:spcPts val="0"/>
              </a:spcBef>
              <a:spcAft>
                <a:spcPts val="0"/>
              </a:spcAft>
              <a:buNone/>
            </a:pPr>
            <a:r>
              <a:rPr b="1" i="1" lang="en-GB">
                <a:solidFill>
                  <a:schemeClr val="dk2"/>
                </a:solidFill>
                <a:latin typeface="Helvetica Neue"/>
                <a:ea typeface="Helvetica Neue"/>
                <a:cs typeface="Helvetica Neue"/>
                <a:sym typeface="Helvetica Neue"/>
              </a:rPr>
              <a:t>Mean = 5.76, </a:t>
            </a:r>
            <a:endParaRPr b="1" i="1">
              <a:solidFill>
                <a:schemeClr val="dk2"/>
              </a:solidFill>
              <a:latin typeface="Helvetica Neue"/>
              <a:ea typeface="Helvetica Neue"/>
              <a:cs typeface="Helvetica Neue"/>
              <a:sym typeface="Helvetica Neue"/>
            </a:endParaRPr>
          </a:p>
          <a:p>
            <a:pPr indent="0" lvl="0" marL="0" rtl="0" algn="l">
              <a:spcBef>
                <a:spcPts val="0"/>
              </a:spcBef>
              <a:spcAft>
                <a:spcPts val="0"/>
              </a:spcAft>
              <a:buNone/>
            </a:pPr>
            <a:r>
              <a:rPr b="1" i="1" lang="en-GB">
                <a:solidFill>
                  <a:schemeClr val="dk2"/>
                </a:solidFill>
                <a:latin typeface="Helvetica Neue"/>
                <a:ea typeface="Helvetica Neue"/>
                <a:cs typeface="Helvetica Neue"/>
                <a:sym typeface="Helvetica Neue"/>
              </a:rPr>
              <a:t>SD = 0.73, </a:t>
            </a:r>
            <a:endParaRPr b="1" i="1">
              <a:solidFill>
                <a:schemeClr val="dk2"/>
              </a:solidFill>
              <a:latin typeface="Helvetica Neue"/>
              <a:ea typeface="Helvetica Neue"/>
              <a:cs typeface="Helvetica Neue"/>
              <a:sym typeface="Helvetica Neue"/>
            </a:endParaRPr>
          </a:p>
          <a:p>
            <a:pPr indent="0" lvl="0" marL="0" rtl="0" algn="l">
              <a:spcBef>
                <a:spcPts val="0"/>
              </a:spcBef>
              <a:spcAft>
                <a:spcPts val="0"/>
              </a:spcAft>
              <a:buNone/>
            </a:pPr>
            <a:r>
              <a:rPr b="1" i="1" lang="en-GB">
                <a:solidFill>
                  <a:schemeClr val="dk2"/>
                </a:solidFill>
                <a:latin typeface="Helvetica Neue"/>
                <a:ea typeface="Helvetica Neue"/>
                <a:cs typeface="Helvetica Neue"/>
                <a:sym typeface="Helvetica Neue"/>
              </a:rPr>
              <a:t>Skewness = -0.828</a:t>
            </a:r>
            <a:endParaRPr b="1" i="1">
              <a:solidFill>
                <a:schemeClr val="dk2"/>
              </a:solidFill>
              <a:latin typeface="Helvetica Neue"/>
              <a:ea typeface="Helvetica Neue"/>
              <a:cs typeface="Helvetica Neue"/>
              <a:sym typeface="Helvetica Neue"/>
            </a:endParaRPr>
          </a:p>
          <a:p>
            <a:pPr indent="0" lvl="0" marL="0" rtl="0" algn="l">
              <a:spcBef>
                <a:spcPts val="0"/>
              </a:spcBef>
              <a:spcAft>
                <a:spcPts val="0"/>
              </a:spcAft>
              <a:buNone/>
            </a:pPr>
            <a:r>
              <a:rPr b="1" i="1" lang="en-GB">
                <a:solidFill>
                  <a:schemeClr val="dk2"/>
                </a:solidFill>
                <a:latin typeface="Helvetica Neue"/>
                <a:ea typeface="Helvetica Neue"/>
                <a:cs typeface="Helvetica Neue"/>
                <a:sym typeface="Helvetica Neue"/>
              </a:rPr>
              <a:t>Data is slightly left-skewed, with most responses between 5 and 6.</a:t>
            </a:r>
            <a:endParaRPr b="1" i="1">
              <a:solidFill>
                <a:schemeClr val="dk2"/>
              </a:solidFill>
              <a:latin typeface="Helvetica Neue"/>
              <a:ea typeface="Helvetica Neue"/>
              <a:cs typeface="Helvetica Neue"/>
              <a:sym typeface="Helvetica Neue"/>
            </a:endParaRPr>
          </a:p>
          <a:p>
            <a:pPr indent="0" lvl="0" marL="0" rtl="0" algn="l">
              <a:spcBef>
                <a:spcPts val="0"/>
              </a:spcBef>
              <a:spcAft>
                <a:spcPts val="0"/>
              </a:spcAft>
              <a:buNone/>
            </a:pPr>
            <a:r>
              <a:rPr b="1" i="1" lang="en-GB">
                <a:solidFill>
                  <a:schemeClr val="dk2"/>
                </a:solidFill>
                <a:latin typeface="Helvetica Neue"/>
                <a:ea typeface="Helvetica Neue"/>
                <a:cs typeface="Helvetica Neue"/>
                <a:sym typeface="Helvetica Neue"/>
              </a:rPr>
              <a:t>Career Satisfaction (CS):</a:t>
            </a:r>
            <a:endParaRPr b="1" i="1">
              <a:solidFill>
                <a:schemeClr val="dk2"/>
              </a:solidFill>
              <a:latin typeface="Helvetica Neue"/>
              <a:ea typeface="Helvetica Neue"/>
              <a:cs typeface="Helvetica Neue"/>
              <a:sym typeface="Helvetica Neue"/>
            </a:endParaRPr>
          </a:p>
          <a:p>
            <a:pPr indent="0" lvl="0" marL="0" rtl="0" algn="l">
              <a:spcBef>
                <a:spcPts val="0"/>
              </a:spcBef>
              <a:spcAft>
                <a:spcPts val="0"/>
              </a:spcAft>
              <a:buNone/>
            </a:pPr>
            <a:r>
              <a:t/>
            </a:r>
            <a:endParaRPr b="1" i="1">
              <a:solidFill>
                <a:schemeClr val="dk2"/>
              </a:solidFill>
              <a:latin typeface="Helvetica Neue"/>
              <a:ea typeface="Helvetica Neue"/>
              <a:cs typeface="Helvetica Neue"/>
              <a:sym typeface="Helvetica Neue"/>
            </a:endParaRPr>
          </a:p>
          <a:p>
            <a:pPr indent="0" lvl="0" marL="0" rtl="0" algn="l">
              <a:spcBef>
                <a:spcPts val="0"/>
              </a:spcBef>
              <a:spcAft>
                <a:spcPts val="0"/>
              </a:spcAft>
              <a:buNone/>
            </a:pPr>
            <a:r>
              <a:rPr b="1" i="1" lang="en-GB">
                <a:solidFill>
                  <a:schemeClr val="dk2"/>
                </a:solidFill>
                <a:latin typeface="Helvetica Neue"/>
                <a:ea typeface="Helvetica Neue"/>
                <a:cs typeface="Helvetica Neue"/>
                <a:sym typeface="Helvetica Neue"/>
              </a:rPr>
              <a:t>Mean = 4.51, SD = 1.11, Skewness = -0.835</a:t>
            </a:r>
            <a:endParaRPr b="1" i="1">
              <a:solidFill>
                <a:schemeClr val="dk2"/>
              </a:solidFill>
              <a:latin typeface="Helvetica Neue"/>
              <a:ea typeface="Helvetica Neue"/>
              <a:cs typeface="Helvetica Neue"/>
              <a:sym typeface="Helvetica Neue"/>
            </a:endParaRPr>
          </a:p>
          <a:p>
            <a:pPr indent="0" lvl="0" marL="0" rtl="0" algn="l">
              <a:spcBef>
                <a:spcPts val="0"/>
              </a:spcBef>
              <a:spcAft>
                <a:spcPts val="0"/>
              </a:spcAft>
              <a:buNone/>
            </a:pPr>
            <a:r>
              <a:rPr b="1" i="1" lang="en-GB">
                <a:solidFill>
                  <a:schemeClr val="dk2"/>
                </a:solidFill>
                <a:latin typeface="Helvetica Neue"/>
                <a:ea typeface="Helvetica Neue"/>
                <a:cs typeface="Helvetica Neue"/>
                <a:sym typeface="Helvetica Neue"/>
              </a:rPr>
              <a:t>Data is also left-skewed but more spread out.</a:t>
            </a:r>
            <a:endParaRPr b="1" i="1">
              <a:solidFill>
                <a:schemeClr val="dk2"/>
              </a:solidFill>
              <a:latin typeface="Helvetica Neue"/>
              <a:ea typeface="Helvetica Neue"/>
              <a:cs typeface="Helvetica Neue"/>
              <a:sym typeface="Helvetica Neue"/>
            </a:endParaRPr>
          </a:p>
          <a:p>
            <a:pPr indent="0" lvl="0" marL="0" rtl="0" algn="l">
              <a:spcBef>
                <a:spcPts val="0"/>
              </a:spcBef>
              <a:spcAft>
                <a:spcPts val="0"/>
              </a:spcAft>
              <a:buNone/>
            </a:pPr>
            <a:r>
              <a:t/>
            </a:r>
            <a:endParaRPr b="1" i="1">
              <a:solidFill>
                <a:schemeClr val="dk2"/>
              </a:solidFill>
              <a:latin typeface="Helvetica Neue"/>
              <a:ea typeface="Helvetica Neue"/>
              <a:cs typeface="Helvetica Neue"/>
              <a:sym typeface="Helvetica Neue"/>
            </a:endParaRPr>
          </a:p>
        </p:txBody>
      </p:sp>
      <p:sp>
        <p:nvSpPr>
          <p:cNvPr id="223" name="Google Shape;223;p30"/>
          <p:cNvSpPr txBox="1"/>
          <p:nvPr/>
        </p:nvSpPr>
        <p:spPr>
          <a:xfrm>
            <a:off x="130325" y="4132475"/>
            <a:ext cx="5968200" cy="836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i="1" lang="en-GB">
                <a:solidFill>
                  <a:schemeClr val="dk2"/>
                </a:solidFill>
                <a:latin typeface="Helvetica Neue"/>
                <a:ea typeface="Helvetica Neue"/>
                <a:cs typeface="Helvetica Neue"/>
                <a:sym typeface="Helvetica Neue"/>
              </a:rPr>
              <a:t>Normality Tests Results:</a:t>
            </a:r>
            <a:endParaRPr b="1" i="1">
              <a:solidFill>
                <a:schemeClr val="dk2"/>
              </a:solidFill>
              <a:latin typeface="Helvetica Neue"/>
              <a:ea typeface="Helvetica Neue"/>
              <a:cs typeface="Helvetica Neue"/>
              <a:sym typeface="Helvetica Neue"/>
            </a:endParaRPr>
          </a:p>
          <a:p>
            <a:pPr indent="0" lvl="0" marL="0" rtl="0" algn="l">
              <a:spcBef>
                <a:spcPts val="0"/>
              </a:spcBef>
              <a:spcAft>
                <a:spcPts val="0"/>
              </a:spcAft>
              <a:buClr>
                <a:schemeClr val="dk1"/>
              </a:buClr>
              <a:buSzPts val="1100"/>
              <a:buFont typeface="Arial"/>
              <a:buNone/>
            </a:pPr>
            <a:r>
              <a:rPr b="1" i="1" lang="en-GB">
                <a:solidFill>
                  <a:schemeClr val="dk2"/>
                </a:solidFill>
                <a:latin typeface="Helvetica Neue"/>
                <a:ea typeface="Helvetica Neue"/>
                <a:cs typeface="Helvetica Neue"/>
                <a:sym typeface="Helvetica Neue"/>
              </a:rPr>
              <a:t>Both tests return p-values &lt; 0.001, meaning we reject normality for both KW and CS.</a:t>
            </a:r>
            <a:endParaRPr b="1" i="1">
              <a:solidFill>
                <a:schemeClr val="dk2"/>
              </a:solidFill>
              <a:latin typeface="Helvetica Neue"/>
              <a:ea typeface="Helvetica Neue"/>
              <a:cs typeface="Helvetica Neue"/>
              <a:sym typeface="Helvetica Neue"/>
            </a:endParaRPr>
          </a:p>
          <a:p>
            <a:pPr indent="0" lvl="0" marL="0" rtl="0" algn="l">
              <a:spcBef>
                <a:spcPts val="0"/>
              </a:spcBef>
              <a:spcAft>
                <a:spcPts val="0"/>
              </a:spcAft>
              <a:buClr>
                <a:schemeClr val="dk1"/>
              </a:buClr>
              <a:buSzPts val="1100"/>
              <a:buFont typeface="Arial"/>
              <a:buNone/>
            </a:pPr>
            <a:r>
              <a:t/>
            </a:r>
            <a:endParaRPr b="1" i="1">
              <a:solidFill>
                <a:schemeClr val="dk2"/>
              </a:solidFill>
              <a:latin typeface="Helvetica Neue"/>
              <a:ea typeface="Helvetica Neue"/>
              <a:cs typeface="Helvetica Neue"/>
              <a:sym typeface="Helvetica Neue"/>
            </a:endParaRPr>
          </a:p>
          <a:p>
            <a:pPr indent="0" lvl="0" marL="0" rtl="0" algn="l">
              <a:spcBef>
                <a:spcPts val="0"/>
              </a:spcBef>
              <a:spcAft>
                <a:spcPts val="0"/>
              </a:spcAft>
              <a:buNone/>
            </a:pPr>
            <a:r>
              <a:t/>
            </a:r>
            <a:endParaRPr sz="1800">
              <a:solidFill>
                <a:schemeClr val="dk2"/>
              </a:solidFill>
              <a:latin typeface="Helvetica Neue"/>
              <a:ea typeface="Helvetica Neue"/>
              <a:cs typeface="Helvetica Neue"/>
              <a:sym typeface="Helvetica Neue"/>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7" name="Shape 227"/>
        <p:cNvGrpSpPr/>
        <p:nvPr/>
      </p:nvGrpSpPr>
      <p:grpSpPr>
        <a:xfrm>
          <a:off x="0" y="0"/>
          <a:ext cx="0" cy="0"/>
          <a:chOff x="0" y="0"/>
          <a:chExt cx="0" cy="0"/>
        </a:xfrm>
      </p:grpSpPr>
      <p:sp>
        <p:nvSpPr>
          <p:cNvPr id="228" name="Google Shape;228;p31"/>
          <p:cNvSpPr txBox="1"/>
          <p:nvPr>
            <p:ph type="title"/>
          </p:nvPr>
        </p:nvSpPr>
        <p:spPr>
          <a:xfrm>
            <a:off x="311700" y="190100"/>
            <a:ext cx="85206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SzPts val="990"/>
              <a:buNone/>
            </a:pPr>
            <a:r>
              <a:rPr b="1" lang="en-GB" sz="1620">
                <a:solidFill>
                  <a:schemeClr val="dk2"/>
                </a:solidFill>
                <a:latin typeface="Helvetica Neue"/>
                <a:ea typeface="Helvetica Neue"/>
                <a:cs typeface="Helvetica Neue"/>
                <a:sym typeface="Helvetica Neue"/>
              </a:rPr>
              <a:t>Knowing Why Normality Plots</a:t>
            </a:r>
            <a:endParaRPr b="1" sz="1620">
              <a:solidFill>
                <a:schemeClr val="dk2"/>
              </a:solidFill>
              <a:latin typeface="Helvetica Neue"/>
              <a:ea typeface="Helvetica Neue"/>
              <a:cs typeface="Helvetica Neue"/>
              <a:sym typeface="Helvetica Neue"/>
            </a:endParaRPr>
          </a:p>
        </p:txBody>
      </p:sp>
      <p:pic>
        <p:nvPicPr>
          <p:cNvPr id="229" name="Google Shape;229;p31"/>
          <p:cNvPicPr preferRelativeResize="0"/>
          <p:nvPr/>
        </p:nvPicPr>
        <p:blipFill>
          <a:blip r:embed="rId3">
            <a:alphaModFix/>
          </a:blip>
          <a:stretch>
            <a:fillRect/>
          </a:stretch>
        </p:blipFill>
        <p:spPr>
          <a:xfrm>
            <a:off x="161750" y="762800"/>
            <a:ext cx="3650001" cy="2396125"/>
          </a:xfrm>
          <a:prstGeom prst="rect">
            <a:avLst/>
          </a:prstGeom>
          <a:noFill/>
          <a:ln>
            <a:noFill/>
          </a:ln>
        </p:spPr>
      </p:pic>
      <p:pic>
        <p:nvPicPr>
          <p:cNvPr id="230" name="Google Shape;230;p31"/>
          <p:cNvPicPr preferRelativeResize="0"/>
          <p:nvPr/>
        </p:nvPicPr>
        <p:blipFill>
          <a:blip r:embed="rId4">
            <a:alphaModFix/>
          </a:blip>
          <a:stretch>
            <a:fillRect/>
          </a:stretch>
        </p:blipFill>
        <p:spPr>
          <a:xfrm>
            <a:off x="5866650" y="190105"/>
            <a:ext cx="2906099" cy="3305094"/>
          </a:xfrm>
          <a:prstGeom prst="rect">
            <a:avLst/>
          </a:prstGeom>
          <a:noFill/>
          <a:ln>
            <a:noFill/>
          </a:ln>
        </p:spPr>
      </p:pic>
      <p:pic>
        <p:nvPicPr>
          <p:cNvPr id="231" name="Google Shape;231;p31"/>
          <p:cNvPicPr preferRelativeResize="0"/>
          <p:nvPr/>
        </p:nvPicPr>
        <p:blipFill>
          <a:blip r:embed="rId5">
            <a:alphaModFix/>
          </a:blip>
          <a:stretch>
            <a:fillRect/>
          </a:stretch>
        </p:blipFill>
        <p:spPr>
          <a:xfrm>
            <a:off x="311700" y="3158925"/>
            <a:ext cx="3522551" cy="2007426"/>
          </a:xfrm>
          <a:prstGeom prst="rect">
            <a:avLst/>
          </a:prstGeom>
          <a:noFill/>
          <a:ln>
            <a:noFill/>
          </a:ln>
        </p:spPr>
      </p:pic>
      <p:sp>
        <p:nvSpPr>
          <p:cNvPr id="232" name="Google Shape;232;p31"/>
          <p:cNvSpPr txBox="1"/>
          <p:nvPr/>
        </p:nvSpPr>
        <p:spPr>
          <a:xfrm>
            <a:off x="4066675" y="1100475"/>
            <a:ext cx="1312200" cy="1334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GB" sz="1200">
                <a:solidFill>
                  <a:schemeClr val="dk1"/>
                </a:solidFill>
                <a:latin typeface="Helvetica Neue"/>
                <a:ea typeface="Helvetica Neue"/>
                <a:cs typeface="Helvetica Neue"/>
                <a:sym typeface="Helvetica Neue"/>
              </a:rPr>
              <a:t>Histogram:</a:t>
            </a:r>
            <a:endParaRPr b="1" sz="1200">
              <a:solidFill>
                <a:schemeClr val="dk1"/>
              </a:solidFill>
              <a:latin typeface="Helvetica Neue"/>
              <a:ea typeface="Helvetica Neue"/>
              <a:cs typeface="Helvetica Neue"/>
              <a:sym typeface="Helvetica Neue"/>
            </a:endParaRPr>
          </a:p>
          <a:p>
            <a:pPr indent="0" lvl="0" marL="0" rtl="0" algn="l">
              <a:spcBef>
                <a:spcPts val="0"/>
              </a:spcBef>
              <a:spcAft>
                <a:spcPts val="0"/>
              </a:spcAft>
              <a:buNone/>
            </a:pPr>
            <a:r>
              <a:rPr lang="en-GB" sz="1200">
                <a:solidFill>
                  <a:schemeClr val="dk1"/>
                </a:solidFill>
                <a:latin typeface="Helvetica Neue"/>
                <a:ea typeface="Helvetica Neue"/>
                <a:cs typeface="Helvetica Neue"/>
                <a:sym typeface="Helvetica Neue"/>
              </a:rPr>
              <a:t>Slight negative skew, most values are between 5 and 6.</a:t>
            </a:r>
            <a:endParaRPr sz="1200">
              <a:solidFill>
                <a:schemeClr val="dk1"/>
              </a:solidFill>
              <a:latin typeface="Helvetica Neue"/>
              <a:ea typeface="Helvetica Neue"/>
              <a:cs typeface="Helvetica Neue"/>
              <a:sym typeface="Helvetica Neue"/>
            </a:endParaRPr>
          </a:p>
          <a:p>
            <a:pPr indent="0" lvl="0" marL="0" rtl="0" algn="l">
              <a:spcBef>
                <a:spcPts val="0"/>
              </a:spcBef>
              <a:spcAft>
                <a:spcPts val="0"/>
              </a:spcAft>
              <a:buClr>
                <a:schemeClr val="dk1"/>
              </a:buClr>
              <a:buSzPts val="1100"/>
              <a:buFont typeface="Arial"/>
              <a:buNone/>
            </a:pPr>
            <a:r>
              <a:t/>
            </a:r>
            <a:endParaRPr sz="1200">
              <a:solidFill>
                <a:schemeClr val="dk1"/>
              </a:solidFill>
              <a:latin typeface="Helvetica Neue"/>
              <a:ea typeface="Helvetica Neue"/>
              <a:cs typeface="Helvetica Neue"/>
              <a:sym typeface="Helvetica Neue"/>
            </a:endParaRPr>
          </a:p>
          <a:p>
            <a:pPr indent="0" lvl="0" marL="0" rtl="0" algn="l">
              <a:spcBef>
                <a:spcPts val="0"/>
              </a:spcBef>
              <a:spcAft>
                <a:spcPts val="0"/>
              </a:spcAft>
              <a:buNone/>
            </a:pPr>
            <a:r>
              <a:t/>
            </a:r>
            <a:endParaRPr sz="1200">
              <a:solidFill>
                <a:schemeClr val="dk1"/>
              </a:solidFill>
              <a:latin typeface="Helvetica Neue"/>
              <a:ea typeface="Helvetica Neue"/>
              <a:cs typeface="Helvetica Neue"/>
              <a:sym typeface="Helvetica Neue"/>
            </a:endParaRPr>
          </a:p>
        </p:txBody>
      </p:sp>
      <p:sp>
        <p:nvSpPr>
          <p:cNvPr id="233" name="Google Shape;233;p31"/>
          <p:cNvSpPr txBox="1"/>
          <p:nvPr/>
        </p:nvSpPr>
        <p:spPr>
          <a:xfrm>
            <a:off x="512700" y="3462275"/>
            <a:ext cx="1027200" cy="1222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1800">
              <a:solidFill>
                <a:schemeClr val="dk2"/>
              </a:solidFill>
            </a:endParaRPr>
          </a:p>
        </p:txBody>
      </p:sp>
      <p:sp>
        <p:nvSpPr>
          <p:cNvPr id="234" name="Google Shape;234;p31"/>
          <p:cNvSpPr txBox="1"/>
          <p:nvPr/>
        </p:nvSpPr>
        <p:spPr>
          <a:xfrm>
            <a:off x="4141650" y="3334825"/>
            <a:ext cx="1619700" cy="15669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b="1" lang="en-GB" sz="1200">
                <a:solidFill>
                  <a:schemeClr val="dk1"/>
                </a:solidFill>
                <a:latin typeface="Helvetica Neue"/>
                <a:ea typeface="Helvetica Neue"/>
                <a:cs typeface="Helvetica Neue"/>
                <a:sym typeface="Helvetica Neue"/>
              </a:rPr>
              <a:t>Boxplot: </a:t>
            </a:r>
            <a:r>
              <a:rPr lang="en-GB" sz="1200">
                <a:solidFill>
                  <a:schemeClr val="dk1"/>
                </a:solidFill>
                <a:latin typeface="Helvetica Neue"/>
                <a:ea typeface="Helvetica Neue"/>
                <a:cs typeface="Helvetica Neue"/>
                <a:sym typeface="Helvetica Neue"/>
              </a:rPr>
              <a:t>Wider interquartile range with greater variability. Median above center, indicating higher satisfaction.</a:t>
            </a:r>
            <a:endParaRPr sz="1200">
              <a:solidFill>
                <a:schemeClr val="dk1"/>
              </a:solidFill>
              <a:latin typeface="Helvetica Neue"/>
              <a:ea typeface="Helvetica Neue"/>
              <a:cs typeface="Helvetica Neue"/>
              <a:sym typeface="Helvetica Neue"/>
            </a:endParaRPr>
          </a:p>
          <a:p>
            <a:pPr indent="0" lvl="0" marL="0" rtl="0" algn="l">
              <a:spcBef>
                <a:spcPts val="200"/>
              </a:spcBef>
              <a:spcAft>
                <a:spcPts val="0"/>
              </a:spcAft>
              <a:buNone/>
            </a:pPr>
            <a:r>
              <a:t/>
            </a:r>
            <a:endParaRPr sz="1200">
              <a:solidFill>
                <a:schemeClr val="dk2"/>
              </a:solidFill>
              <a:latin typeface="Helvetica Neue"/>
              <a:ea typeface="Helvetica Neue"/>
              <a:cs typeface="Helvetica Neue"/>
              <a:sym typeface="Helvetica Neue"/>
            </a:endParaRPr>
          </a:p>
        </p:txBody>
      </p:sp>
      <p:sp>
        <p:nvSpPr>
          <p:cNvPr id="235" name="Google Shape;235;p31"/>
          <p:cNvSpPr txBox="1"/>
          <p:nvPr/>
        </p:nvSpPr>
        <p:spPr>
          <a:xfrm>
            <a:off x="6068750" y="3648152"/>
            <a:ext cx="3006600" cy="11541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b="1" lang="en-GB" sz="1200">
                <a:solidFill>
                  <a:schemeClr val="dk1"/>
                </a:solidFill>
                <a:latin typeface="Helvetica Neue"/>
                <a:ea typeface="Helvetica Neue"/>
                <a:cs typeface="Helvetica Neue"/>
                <a:sym typeface="Helvetica Neue"/>
              </a:rPr>
              <a:t>Q-Q Plot:</a:t>
            </a:r>
            <a:r>
              <a:rPr lang="en-GB" sz="1200">
                <a:solidFill>
                  <a:schemeClr val="dk1"/>
                </a:solidFill>
                <a:latin typeface="Helvetica Neue"/>
                <a:ea typeface="Helvetica Neue"/>
                <a:cs typeface="Helvetica Neue"/>
                <a:sym typeface="Helvetica Neue"/>
              </a:rPr>
              <a:t> Deviations from normality, especially at the tails.</a:t>
            </a:r>
            <a:endParaRPr sz="1200">
              <a:solidFill>
                <a:schemeClr val="dk1"/>
              </a:solidFill>
              <a:latin typeface="Helvetica Neue"/>
              <a:ea typeface="Helvetica Neue"/>
              <a:cs typeface="Helvetica Neue"/>
              <a:sym typeface="Helvetica Neue"/>
            </a:endParaRPr>
          </a:p>
          <a:p>
            <a:pPr indent="0" lvl="0" marL="0" rtl="0" algn="l">
              <a:lnSpc>
                <a:spcPct val="115000"/>
              </a:lnSpc>
              <a:spcBef>
                <a:spcPts val="1200"/>
              </a:spcBef>
              <a:spcAft>
                <a:spcPts val="0"/>
              </a:spcAft>
              <a:buNone/>
            </a:pPr>
            <a:r>
              <a:rPr b="1" lang="en-GB" sz="1200">
                <a:solidFill>
                  <a:schemeClr val="dk1"/>
                </a:solidFill>
                <a:latin typeface="Helvetica Neue"/>
                <a:ea typeface="Helvetica Neue"/>
                <a:cs typeface="Helvetica Neue"/>
                <a:sym typeface="Helvetica Neue"/>
              </a:rPr>
              <a:t>Detrended Q-Q Plot:</a:t>
            </a:r>
            <a:r>
              <a:rPr lang="en-GB" sz="1200">
                <a:solidFill>
                  <a:schemeClr val="dk1"/>
                </a:solidFill>
                <a:latin typeface="Helvetica Neue"/>
                <a:ea typeface="Helvetica Neue"/>
                <a:cs typeface="Helvetica Neue"/>
                <a:sym typeface="Helvetica Neue"/>
              </a:rPr>
              <a:t> Shows systematic deviations, confirming non-normality.</a:t>
            </a:r>
            <a:endParaRPr sz="1200">
              <a:solidFill>
                <a:schemeClr val="dk1"/>
              </a:solidFill>
              <a:latin typeface="Helvetica Neue"/>
              <a:ea typeface="Helvetica Neue"/>
              <a:cs typeface="Helvetica Neue"/>
              <a:sym typeface="Helvetica Neue"/>
            </a:endParaRPr>
          </a:p>
          <a:p>
            <a:pPr indent="0" lvl="0" marL="0" rtl="0" algn="l">
              <a:spcBef>
                <a:spcPts val="1200"/>
              </a:spcBef>
              <a:spcAft>
                <a:spcPts val="0"/>
              </a:spcAft>
              <a:buNone/>
            </a:pPr>
            <a:r>
              <a:t/>
            </a:r>
            <a:endParaRPr sz="1200">
              <a:solidFill>
                <a:schemeClr val="dk2"/>
              </a:solidFill>
              <a:latin typeface="Helvetica Neue"/>
              <a:ea typeface="Helvetica Neue"/>
              <a:cs typeface="Helvetica Neue"/>
              <a:sym typeface="Helvetica Neue"/>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9" name="Shape 239"/>
        <p:cNvGrpSpPr/>
        <p:nvPr/>
      </p:nvGrpSpPr>
      <p:grpSpPr>
        <a:xfrm>
          <a:off x="0" y="0"/>
          <a:ext cx="0" cy="0"/>
          <a:chOff x="0" y="0"/>
          <a:chExt cx="0" cy="0"/>
        </a:xfrm>
      </p:grpSpPr>
      <p:sp>
        <p:nvSpPr>
          <p:cNvPr id="240" name="Google Shape;240;p32"/>
          <p:cNvSpPr txBox="1"/>
          <p:nvPr>
            <p:ph type="title"/>
          </p:nvPr>
        </p:nvSpPr>
        <p:spPr>
          <a:xfrm>
            <a:off x="206725" y="145100"/>
            <a:ext cx="85206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SzPts val="990"/>
              <a:buNone/>
            </a:pPr>
            <a:r>
              <a:rPr b="1" lang="en-GB" sz="1620">
                <a:solidFill>
                  <a:schemeClr val="dk2"/>
                </a:solidFill>
                <a:latin typeface="Helvetica Neue"/>
                <a:ea typeface="Helvetica Neue"/>
                <a:cs typeface="Helvetica Neue"/>
                <a:sym typeface="Helvetica Neue"/>
              </a:rPr>
              <a:t>Career Satisfaction Normality Plots</a:t>
            </a:r>
            <a:endParaRPr b="1" sz="1620">
              <a:solidFill>
                <a:schemeClr val="dk2"/>
              </a:solidFill>
              <a:latin typeface="Helvetica Neue"/>
              <a:ea typeface="Helvetica Neue"/>
              <a:cs typeface="Helvetica Neue"/>
              <a:sym typeface="Helvetica Neue"/>
            </a:endParaRPr>
          </a:p>
        </p:txBody>
      </p:sp>
      <p:pic>
        <p:nvPicPr>
          <p:cNvPr id="241" name="Google Shape;241;p32"/>
          <p:cNvPicPr preferRelativeResize="0"/>
          <p:nvPr/>
        </p:nvPicPr>
        <p:blipFill>
          <a:blip r:embed="rId3">
            <a:alphaModFix/>
          </a:blip>
          <a:stretch>
            <a:fillRect/>
          </a:stretch>
        </p:blipFill>
        <p:spPr>
          <a:xfrm>
            <a:off x="387900" y="717800"/>
            <a:ext cx="3400651" cy="2401171"/>
          </a:xfrm>
          <a:prstGeom prst="rect">
            <a:avLst/>
          </a:prstGeom>
          <a:noFill/>
          <a:ln>
            <a:noFill/>
          </a:ln>
        </p:spPr>
      </p:pic>
      <p:pic>
        <p:nvPicPr>
          <p:cNvPr id="242" name="Google Shape;242;p32"/>
          <p:cNvPicPr preferRelativeResize="0"/>
          <p:nvPr/>
        </p:nvPicPr>
        <p:blipFill>
          <a:blip r:embed="rId4">
            <a:alphaModFix/>
          </a:blip>
          <a:stretch>
            <a:fillRect/>
          </a:stretch>
        </p:blipFill>
        <p:spPr>
          <a:xfrm>
            <a:off x="5848700" y="1951500"/>
            <a:ext cx="2921674" cy="1634375"/>
          </a:xfrm>
          <a:prstGeom prst="rect">
            <a:avLst/>
          </a:prstGeom>
          <a:noFill/>
          <a:ln>
            <a:noFill/>
          </a:ln>
        </p:spPr>
      </p:pic>
      <p:pic>
        <p:nvPicPr>
          <p:cNvPr id="243" name="Google Shape;243;p32" title="Screen Shot 2025-03-17 at 1.13.32 PM.png"/>
          <p:cNvPicPr preferRelativeResize="0"/>
          <p:nvPr/>
        </p:nvPicPr>
        <p:blipFill>
          <a:blip r:embed="rId5">
            <a:alphaModFix/>
          </a:blip>
          <a:stretch>
            <a:fillRect/>
          </a:stretch>
        </p:blipFill>
        <p:spPr>
          <a:xfrm>
            <a:off x="5895625" y="352375"/>
            <a:ext cx="2921677" cy="1693597"/>
          </a:xfrm>
          <a:prstGeom prst="rect">
            <a:avLst/>
          </a:prstGeom>
          <a:noFill/>
          <a:ln>
            <a:noFill/>
          </a:ln>
        </p:spPr>
      </p:pic>
      <p:pic>
        <p:nvPicPr>
          <p:cNvPr id="244" name="Google Shape;244;p32"/>
          <p:cNvPicPr preferRelativeResize="0"/>
          <p:nvPr/>
        </p:nvPicPr>
        <p:blipFill>
          <a:blip r:embed="rId6">
            <a:alphaModFix/>
          </a:blip>
          <a:stretch>
            <a:fillRect/>
          </a:stretch>
        </p:blipFill>
        <p:spPr>
          <a:xfrm>
            <a:off x="386675" y="3053575"/>
            <a:ext cx="3183226" cy="2089924"/>
          </a:xfrm>
          <a:prstGeom prst="rect">
            <a:avLst/>
          </a:prstGeom>
          <a:noFill/>
          <a:ln>
            <a:noFill/>
          </a:ln>
        </p:spPr>
      </p:pic>
      <p:pic>
        <p:nvPicPr>
          <p:cNvPr id="245" name="Google Shape;245;p32"/>
          <p:cNvPicPr preferRelativeResize="0"/>
          <p:nvPr/>
        </p:nvPicPr>
        <p:blipFill>
          <a:blip r:embed="rId7">
            <a:alphaModFix/>
          </a:blip>
          <a:stretch>
            <a:fillRect/>
          </a:stretch>
        </p:blipFill>
        <p:spPr>
          <a:xfrm>
            <a:off x="311700" y="3158925"/>
            <a:ext cx="3522551" cy="2007426"/>
          </a:xfrm>
          <a:prstGeom prst="rect">
            <a:avLst/>
          </a:prstGeom>
          <a:noFill/>
          <a:ln>
            <a:noFill/>
          </a:ln>
        </p:spPr>
      </p:pic>
      <p:sp>
        <p:nvSpPr>
          <p:cNvPr id="246" name="Google Shape;246;p32"/>
          <p:cNvSpPr txBox="1"/>
          <p:nvPr/>
        </p:nvSpPr>
        <p:spPr>
          <a:xfrm>
            <a:off x="4066675" y="1100475"/>
            <a:ext cx="1312200" cy="1334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GB" sz="1200">
                <a:solidFill>
                  <a:schemeClr val="dk1"/>
                </a:solidFill>
                <a:latin typeface="Helvetica Neue"/>
                <a:ea typeface="Helvetica Neue"/>
                <a:cs typeface="Helvetica Neue"/>
                <a:sym typeface="Helvetica Neue"/>
              </a:rPr>
              <a:t>Histogram:</a:t>
            </a:r>
            <a:r>
              <a:rPr lang="en-GB" sz="1200">
                <a:solidFill>
                  <a:schemeClr val="dk1"/>
                </a:solidFill>
                <a:latin typeface="Helvetica Neue"/>
                <a:ea typeface="Helvetica Neue"/>
                <a:cs typeface="Helvetica Neue"/>
                <a:sym typeface="Helvetica Neue"/>
              </a:rPr>
              <a:t> Distribution is more spread out, slight negative skew</a:t>
            </a:r>
            <a:endParaRPr sz="1200">
              <a:solidFill>
                <a:schemeClr val="dk2"/>
              </a:solidFill>
              <a:latin typeface="Helvetica Neue"/>
              <a:ea typeface="Helvetica Neue"/>
              <a:cs typeface="Helvetica Neue"/>
              <a:sym typeface="Helvetica Neue"/>
            </a:endParaRPr>
          </a:p>
        </p:txBody>
      </p:sp>
      <p:sp>
        <p:nvSpPr>
          <p:cNvPr id="247" name="Google Shape;247;p32"/>
          <p:cNvSpPr txBox="1"/>
          <p:nvPr/>
        </p:nvSpPr>
        <p:spPr>
          <a:xfrm>
            <a:off x="4141650" y="3334825"/>
            <a:ext cx="1619700" cy="15669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b="1" lang="en-GB" sz="1200">
                <a:solidFill>
                  <a:schemeClr val="dk1"/>
                </a:solidFill>
                <a:latin typeface="Helvetica Neue"/>
                <a:ea typeface="Helvetica Neue"/>
                <a:cs typeface="Helvetica Neue"/>
                <a:sym typeface="Helvetica Neue"/>
              </a:rPr>
              <a:t>Boxplot: </a:t>
            </a:r>
            <a:r>
              <a:rPr lang="en-GB" sz="1200">
                <a:solidFill>
                  <a:schemeClr val="dk1"/>
                </a:solidFill>
                <a:latin typeface="Helvetica Neue"/>
                <a:ea typeface="Helvetica Neue"/>
                <a:cs typeface="Helvetica Neue"/>
                <a:sym typeface="Helvetica Neue"/>
              </a:rPr>
              <a:t>Wider interquartile range with greater variability. Median above center, indicating higher satisfaction</a:t>
            </a:r>
            <a:endParaRPr sz="1200">
              <a:solidFill>
                <a:schemeClr val="dk1"/>
              </a:solidFill>
              <a:latin typeface="Helvetica Neue"/>
              <a:ea typeface="Helvetica Neue"/>
              <a:cs typeface="Helvetica Neue"/>
              <a:sym typeface="Helvetica Neue"/>
            </a:endParaRPr>
          </a:p>
          <a:p>
            <a:pPr indent="0" lvl="0" marL="0" rtl="0" algn="l">
              <a:spcBef>
                <a:spcPts val="200"/>
              </a:spcBef>
              <a:spcAft>
                <a:spcPts val="0"/>
              </a:spcAft>
              <a:buNone/>
            </a:pPr>
            <a:r>
              <a:t/>
            </a:r>
            <a:endParaRPr sz="1200">
              <a:solidFill>
                <a:schemeClr val="dk2"/>
              </a:solidFill>
              <a:latin typeface="Helvetica Neue"/>
              <a:ea typeface="Helvetica Neue"/>
              <a:cs typeface="Helvetica Neue"/>
              <a:sym typeface="Helvetica Neue"/>
            </a:endParaRPr>
          </a:p>
        </p:txBody>
      </p:sp>
      <p:sp>
        <p:nvSpPr>
          <p:cNvPr id="248" name="Google Shape;248;p32"/>
          <p:cNvSpPr txBox="1"/>
          <p:nvPr/>
        </p:nvSpPr>
        <p:spPr>
          <a:xfrm>
            <a:off x="6001100" y="3818500"/>
            <a:ext cx="3006600" cy="8247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b="1" lang="en-GB" sz="1200">
                <a:solidFill>
                  <a:schemeClr val="dk1"/>
                </a:solidFill>
                <a:latin typeface="Helvetica Neue"/>
                <a:ea typeface="Helvetica Neue"/>
                <a:cs typeface="Helvetica Neue"/>
                <a:sym typeface="Helvetica Neue"/>
              </a:rPr>
              <a:t>Q-Q Plot:</a:t>
            </a:r>
            <a:r>
              <a:rPr lang="en-GB" sz="1200">
                <a:solidFill>
                  <a:schemeClr val="dk1"/>
                </a:solidFill>
                <a:latin typeface="Helvetica Neue"/>
                <a:ea typeface="Helvetica Neue"/>
                <a:cs typeface="Helvetica Neue"/>
                <a:sym typeface="Helvetica Neue"/>
              </a:rPr>
              <a:t> Deviations at the lower and upper ends.</a:t>
            </a:r>
            <a:endParaRPr sz="1200">
              <a:solidFill>
                <a:schemeClr val="dk1"/>
              </a:solidFill>
              <a:latin typeface="Helvetica Neue"/>
              <a:ea typeface="Helvetica Neue"/>
              <a:cs typeface="Helvetica Neue"/>
              <a:sym typeface="Helvetica Neue"/>
            </a:endParaRPr>
          </a:p>
          <a:p>
            <a:pPr indent="0" lvl="0" marL="0" rtl="0" algn="l">
              <a:lnSpc>
                <a:spcPct val="115000"/>
              </a:lnSpc>
              <a:spcBef>
                <a:spcPts val="1200"/>
              </a:spcBef>
              <a:spcAft>
                <a:spcPts val="0"/>
              </a:spcAft>
              <a:buNone/>
            </a:pPr>
            <a:r>
              <a:rPr b="1" lang="en-GB" sz="1200">
                <a:solidFill>
                  <a:schemeClr val="dk1"/>
                </a:solidFill>
                <a:latin typeface="Helvetica Neue"/>
                <a:ea typeface="Helvetica Neue"/>
                <a:cs typeface="Helvetica Neue"/>
                <a:sym typeface="Helvetica Neue"/>
              </a:rPr>
              <a:t>Detrended Q-Q Plot:</a:t>
            </a:r>
            <a:r>
              <a:rPr lang="en-GB" sz="1200">
                <a:solidFill>
                  <a:schemeClr val="dk1"/>
                </a:solidFill>
                <a:latin typeface="Helvetica Neue"/>
                <a:ea typeface="Helvetica Neue"/>
                <a:cs typeface="Helvetica Neue"/>
                <a:sym typeface="Helvetica Neue"/>
              </a:rPr>
              <a:t> Confirms irregular pattern in distribution.</a:t>
            </a:r>
            <a:endParaRPr sz="1200">
              <a:solidFill>
                <a:schemeClr val="dk1"/>
              </a:solidFill>
              <a:latin typeface="Helvetica Neue"/>
              <a:ea typeface="Helvetica Neue"/>
              <a:cs typeface="Helvetica Neue"/>
              <a:sym typeface="Helvetica Neue"/>
            </a:endParaRPr>
          </a:p>
          <a:p>
            <a:pPr indent="0" lvl="0" marL="0" rtl="0" algn="l">
              <a:spcBef>
                <a:spcPts val="1200"/>
              </a:spcBef>
              <a:spcAft>
                <a:spcPts val="0"/>
              </a:spcAft>
              <a:buNone/>
            </a:pPr>
            <a:r>
              <a:t/>
            </a:r>
            <a:endParaRPr sz="1200">
              <a:solidFill>
                <a:schemeClr val="dk2"/>
              </a:solidFill>
              <a:latin typeface="Helvetica Neue"/>
              <a:ea typeface="Helvetica Neue"/>
              <a:cs typeface="Helvetica Neue"/>
              <a:sym typeface="Helvetica Neue"/>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2" name="Shape 252"/>
        <p:cNvGrpSpPr/>
        <p:nvPr/>
      </p:nvGrpSpPr>
      <p:grpSpPr>
        <a:xfrm>
          <a:off x="0" y="0"/>
          <a:ext cx="0" cy="0"/>
          <a:chOff x="0" y="0"/>
          <a:chExt cx="0" cy="0"/>
        </a:xfrm>
      </p:grpSpPr>
      <p:sp>
        <p:nvSpPr>
          <p:cNvPr id="253" name="Google Shape;253;p33"/>
          <p:cNvSpPr txBox="1"/>
          <p:nvPr/>
        </p:nvSpPr>
        <p:spPr>
          <a:xfrm>
            <a:off x="151700" y="134050"/>
            <a:ext cx="2878800" cy="349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GB" sz="1600">
                <a:solidFill>
                  <a:schemeClr val="dk2"/>
                </a:solidFill>
                <a:latin typeface="Helvetica Neue"/>
                <a:ea typeface="Helvetica Neue"/>
                <a:cs typeface="Helvetica Neue"/>
                <a:sym typeface="Helvetica Neue"/>
              </a:rPr>
              <a:t>c) </a:t>
            </a:r>
            <a:r>
              <a:rPr b="1" lang="en-GB" sz="1600">
                <a:solidFill>
                  <a:schemeClr val="dk2"/>
                </a:solidFill>
                <a:latin typeface="Helvetica Neue"/>
                <a:ea typeface="Helvetica Neue"/>
                <a:cs typeface="Helvetica Neue"/>
                <a:sym typeface="Helvetica Neue"/>
              </a:rPr>
              <a:t>Insights and Conclusion;</a:t>
            </a:r>
            <a:endParaRPr b="1" sz="1600">
              <a:solidFill>
                <a:schemeClr val="dk2"/>
              </a:solidFill>
              <a:latin typeface="Helvetica Neue"/>
              <a:ea typeface="Helvetica Neue"/>
              <a:cs typeface="Helvetica Neue"/>
              <a:sym typeface="Helvetica Neue"/>
            </a:endParaRPr>
          </a:p>
        </p:txBody>
      </p:sp>
      <p:sp>
        <p:nvSpPr>
          <p:cNvPr id="254" name="Google Shape;254;p33"/>
          <p:cNvSpPr txBox="1"/>
          <p:nvPr/>
        </p:nvSpPr>
        <p:spPr>
          <a:xfrm>
            <a:off x="151700" y="1022700"/>
            <a:ext cx="8586000" cy="3855900"/>
          </a:xfrm>
          <a:prstGeom prst="rect">
            <a:avLst/>
          </a:prstGeom>
          <a:noFill/>
          <a:ln>
            <a:noFill/>
          </a:ln>
        </p:spPr>
        <p:txBody>
          <a:bodyPr anchorCtr="0" anchor="t" bIns="91425" lIns="91425" spcFirstLastPara="1" rIns="91425" wrap="square" tIns="91425">
            <a:noAutofit/>
          </a:bodyPr>
          <a:lstStyle/>
          <a:p>
            <a:pPr indent="-298450" lvl="0" marL="457200" rtl="0" algn="l">
              <a:lnSpc>
                <a:spcPct val="115000"/>
              </a:lnSpc>
              <a:spcBef>
                <a:spcPts val="1200"/>
              </a:spcBef>
              <a:spcAft>
                <a:spcPts val="0"/>
              </a:spcAft>
              <a:buClr>
                <a:schemeClr val="dk1"/>
              </a:buClr>
              <a:buSzPts val="1100"/>
              <a:buFont typeface="Helvetica Neue"/>
              <a:buChar char="●"/>
            </a:pPr>
            <a:r>
              <a:rPr b="1" lang="en-GB" sz="1800">
                <a:solidFill>
                  <a:schemeClr val="dk2"/>
                </a:solidFill>
                <a:latin typeface="Helvetica Neue"/>
                <a:ea typeface="Helvetica Neue"/>
                <a:cs typeface="Helvetica Neue"/>
                <a:sym typeface="Helvetica Neue"/>
              </a:rPr>
              <a:t>Both "Knowing Why" (KW) and "Career Satisfaction" (CS) are slightly negatively skewed.</a:t>
            </a:r>
            <a:endParaRPr b="1" sz="1800">
              <a:solidFill>
                <a:schemeClr val="dk2"/>
              </a:solidFill>
              <a:latin typeface="Helvetica Neue"/>
              <a:ea typeface="Helvetica Neue"/>
              <a:cs typeface="Helvetica Neue"/>
              <a:sym typeface="Helvetica Neue"/>
            </a:endParaRPr>
          </a:p>
          <a:p>
            <a:pPr indent="0" lvl="0" marL="0" rtl="0" algn="l">
              <a:lnSpc>
                <a:spcPct val="115000"/>
              </a:lnSpc>
              <a:spcBef>
                <a:spcPts val="1200"/>
              </a:spcBef>
              <a:spcAft>
                <a:spcPts val="0"/>
              </a:spcAft>
              <a:buNone/>
            </a:pPr>
            <a:r>
              <a:t/>
            </a:r>
            <a:endParaRPr b="1" sz="1800">
              <a:solidFill>
                <a:schemeClr val="dk2"/>
              </a:solidFill>
              <a:latin typeface="Helvetica Neue"/>
              <a:ea typeface="Helvetica Neue"/>
              <a:cs typeface="Helvetica Neue"/>
              <a:sym typeface="Helvetica Neue"/>
            </a:endParaRPr>
          </a:p>
          <a:p>
            <a:pPr indent="-298450" lvl="0" marL="457200" rtl="0" algn="l">
              <a:lnSpc>
                <a:spcPct val="115000"/>
              </a:lnSpc>
              <a:spcBef>
                <a:spcPts val="1200"/>
              </a:spcBef>
              <a:spcAft>
                <a:spcPts val="0"/>
              </a:spcAft>
              <a:buClr>
                <a:schemeClr val="dk1"/>
              </a:buClr>
              <a:buSzPts val="1100"/>
              <a:buFont typeface="Helvetica Neue"/>
              <a:buChar char="●"/>
            </a:pPr>
            <a:r>
              <a:rPr b="1" lang="en-GB" sz="1800">
                <a:solidFill>
                  <a:schemeClr val="dk2"/>
                </a:solidFill>
                <a:latin typeface="Helvetica Neue"/>
                <a:ea typeface="Helvetica Neue"/>
                <a:cs typeface="Helvetica Neue"/>
                <a:sym typeface="Helvetica Neue"/>
              </a:rPr>
              <a:t>CS has a wider spread of responses, suggesting greater variability in satisfaction levels.</a:t>
            </a:r>
            <a:endParaRPr b="1" sz="1800">
              <a:solidFill>
                <a:schemeClr val="dk2"/>
              </a:solidFill>
              <a:latin typeface="Helvetica Neue"/>
              <a:ea typeface="Helvetica Neue"/>
              <a:cs typeface="Helvetica Neue"/>
              <a:sym typeface="Helvetica Neue"/>
            </a:endParaRPr>
          </a:p>
          <a:p>
            <a:pPr indent="0" lvl="0" marL="0" rtl="0" algn="l">
              <a:lnSpc>
                <a:spcPct val="115000"/>
              </a:lnSpc>
              <a:spcBef>
                <a:spcPts val="1200"/>
              </a:spcBef>
              <a:spcAft>
                <a:spcPts val="0"/>
              </a:spcAft>
              <a:buNone/>
            </a:pPr>
            <a:r>
              <a:t/>
            </a:r>
            <a:endParaRPr b="1" sz="1800">
              <a:solidFill>
                <a:schemeClr val="dk2"/>
              </a:solidFill>
              <a:latin typeface="Helvetica Neue"/>
              <a:ea typeface="Helvetica Neue"/>
              <a:cs typeface="Helvetica Neue"/>
              <a:sym typeface="Helvetica Neue"/>
            </a:endParaRPr>
          </a:p>
          <a:p>
            <a:pPr indent="-298450" lvl="0" marL="457200" rtl="0" algn="l">
              <a:lnSpc>
                <a:spcPct val="115000"/>
              </a:lnSpc>
              <a:spcBef>
                <a:spcPts val="1200"/>
              </a:spcBef>
              <a:spcAft>
                <a:spcPts val="0"/>
              </a:spcAft>
              <a:buClr>
                <a:schemeClr val="dk1"/>
              </a:buClr>
              <a:buSzPts val="1100"/>
              <a:buFont typeface="Helvetica Neue"/>
              <a:buChar char="●"/>
            </a:pPr>
            <a:r>
              <a:rPr b="1" lang="en-GB" sz="1800">
                <a:solidFill>
                  <a:schemeClr val="dk2"/>
                </a:solidFill>
                <a:latin typeface="Helvetica Neue"/>
                <a:ea typeface="Helvetica Neue"/>
                <a:cs typeface="Helvetica Neue"/>
                <a:sym typeface="Helvetica Neue"/>
              </a:rPr>
              <a:t>Normality tests confirm that neither variable follows a normal distribution.</a:t>
            </a:r>
            <a:endParaRPr b="1" sz="1800">
              <a:solidFill>
                <a:schemeClr val="dk2"/>
              </a:solidFill>
              <a:latin typeface="Helvetica Neue"/>
              <a:ea typeface="Helvetica Neue"/>
              <a:cs typeface="Helvetica Neue"/>
              <a:sym typeface="Helvetica Neue"/>
            </a:endParaRPr>
          </a:p>
          <a:p>
            <a:pPr indent="0" lvl="0" marL="0" rtl="0" algn="l">
              <a:lnSpc>
                <a:spcPct val="115000"/>
              </a:lnSpc>
              <a:spcBef>
                <a:spcPts val="1200"/>
              </a:spcBef>
              <a:spcAft>
                <a:spcPts val="0"/>
              </a:spcAft>
              <a:buNone/>
            </a:pPr>
            <a:r>
              <a:t/>
            </a:r>
            <a:endParaRPr b="1" sz="1800">
              <a:solidFill>
                <a:schemeClr val="dk2"/>
              </a:solidFill>
              <a:latin typeface="Helvetica Neue"/>
              <a:ea typeface="Helvetica Neue"/>
              <a:cs typeface="Helvetica Neue"/>
              <a:sym typeface="Helvetica Neue"/>
            </a:endParaRPr>
          </a:p>
          <a:p>
            <a:pPr indent="0" lvl="0" marL="0" rtl="0" algn="l">
              <a:spcBef>
                <a:spcPts val="1200"/>
              </a:spcBef>
              <a:spcAft>
                <a:spcPts val="0"/>
              </a:spcAft>
              <a:buNone/>
            </a:pPr>
            <a:r>
              <a:t/>
            </a:r>
            <a:endParaRPr b="1" sz="1800">
              <a:solidFill>
                <a:schemeClr val="dk2"/>
              </a:solidFill>
              <a:latin typeface="Helvetica Neue"/>
              <a:ea typeface="Helvetica Neue"/>
              <a:cs typeface="Helvetica Neue"/>
              <a:sym typeface="Helvetica Neue"/>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8" name="Shape 258"/>
        <p:cNvGrpSpPr/>
        <p:nvPr/>
      </p:nvGrpSpPr>
      <p:grpSpPr>
        <a:xfrm>
          <a:off x="0" y="0"/>
          <a:ext cx="0" cy="0"/>
          <a:chOff x="0" y="0"/>
          <a:chExt cx="0" cy="0"/>
        </a:xfrm>
      </p:grpSpPr>
      <p:sp>
        <p:nvSpPr>
          <p:cNvPr id="259" name="Google Shape;259;p34"/>
          <p:cNvSpPr txBox="1"/>
          <p:nvPr/>
        </p:nvSpPr>
        <p:spPr>
          <a:xfrm>
            <a:off x="1023150" y="1782300"/>
            <a:ext cx="7097700" cy="1578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GB" sz="5200">
                <a:solidFill>
                  <a:schemeClr val="dk2"/>
                </a:solidFill>
                <a:latin typeface="Helvetica Neue"/>
                <a:ea typeface="Helvetica Neue"/>
                <a:cs typeface="Helvetica Neue"/>
                <a:sym typeface="Helvetica Neue"/>
              </a:rPr>
              <a:t>Thank You.</a:t>
            </a:r>
            <a:endParaRPr sz="5200">
              <a:solidFill>
                <a:schemeClr val="dk2"/>
              </a:solidFill>
              <a:latin typeface="Helvetica Neue"/>
              <a:ea typeface="Helvetica Neue"/>
              <a:cs typeface="Helvetica Neue"/>
              <a:sym typeface="Helvetica Neue"/>
            </a:endParaRPr>
          </a:p>
          <a:p>
            <a:pPr indent="0" lvl="0" marL="0" rtl="0" algn="ctr">
              <a:spcBef>
                <a:spcPts val="0"/>
              </a:spcBef>
              <a:spcAft>
                <a:spcPts val="0"/>
              </a:spcAft>
              <a:buNone/>
            </a:pPr>
            <a:r>
              <a:rPr lang="en-GB" sz="2000">
                <a:solidFill>
                  <a:schemeClr val="dk2"/>
                </a:solidFill>
                <a:latin typeface="Helvetica Neue"/>
                <a:ea typeface="Helvetica Neue"/>
                <a:cs typeface="Helvetica Neue"/>
                <a:sym typeface="Helvetica Neue"/>
              </a:rPr>
              <a:t>Any Questions?</a:t>
            </a:r>
            <a:endParaRPr sz="2000">
              <a:solidFill>
                <a:schemeClr val="dk2"/>
              </a:solidFill>
              <a:latin typeface="Helvetica Neue"/>
              <a:ea typeface="Helvetica Neue"/>
              <a:cs typeface="Helvetica Neue"/>
              <a:sym typeface="Helvetica Neue"/>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